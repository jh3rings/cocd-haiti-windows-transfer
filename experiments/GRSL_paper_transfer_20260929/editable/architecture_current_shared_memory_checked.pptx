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502920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576072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38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4206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(dual-orbit training)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100584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F1F5EA"/>
          </a:solidFill>
          <a:ln w="12700">
            <a:solidFill>
              <a:srgbClr val="CBD8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Counter orbit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" y="14813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(DESC)</a:t>
            </a:r>
          </a:p>
        </p:txBody>
      </p:sp>
      <p:pic>
        <p:nvPicPr>
          <p:cNvPr id="9" name="Picture 8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0" name="Picture 9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1" name="Picture 10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2" name="Picture 11" descr="c_vh_p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3" name="Picture 12" descr="c_vv_p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4" name="Picture 13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376" y="106070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5" name="Picture 14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109728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6" name="Picture 15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2224" y="113385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7" name="Picture 16" descr="c_vh_po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5648" y="117043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18" name="Picture 17" descr="c_vv_po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120700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-192024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5727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33832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64008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1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70078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13716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4592" y="1938528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2212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" y="24140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" name="Picture 2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" name="Picture 2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1" name="Picture 3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2" name="Picture 3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3" name="Picture 3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4" name="Picture 3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199339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5" name="Picture 3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202996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6" name="Picture 3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20665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7" name="Picture 3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21031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8" name="Picture 3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21396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-192024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2505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33832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64008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1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26334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23042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286207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47" name="Freeform 46"/>
          <p:cNvSpPr/>
          <p:nvPr/>
        </p:nvSpPr>
        <p:spPr>
          <a:xfrm>
            <a:off x="2395728" y="1115568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6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35024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14630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sp>
        <p:nvSpPr>
          <p:cNvPr id="50" name="Freeform 49"/>
          <p:cNvSpPr/>
          <p:nvPr/>
        </p:nvSpPr>
        <p:spPr>
          <a:xfrm>
            <a:off x="2395728" y="2121408"/>
            <a:ext cx="850392" cy="676655"/>
          </a:xfrm>
          <a:custGeom>
            <a:avLst/>
            <a:gdLst/>
            <a:ahLst/>
            <a:cxnLst/>
            <a:rect l="l" t="t" r="r" b="b"/>
            <a:pathLst>
              <a:path w="850392" h="676655">
                <a:moveTo>
                  <a:pt x="0" y="0"/>
                </a:moveTo>
                <a:lnTo>
                  <a:pt x="850392" y="128016"/>
                </a:lnTo>
                <a:lnTo>
                  <a:pt x="850392" y="548640"/>
                </a:lnTo>
                <a:lnTo>
                  <a:pt x="0" y="676655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35024" y="23225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35024" y="246887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322576" y="1435608"/>
            <a:ext cx="54864" cy="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22576" y="2395728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3520440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3639312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20440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3671315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790187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71315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822191" y="12499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941063" y="12499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22191" y="1280160"/>
            <a:ext cx="118872" cy="566928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233672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4352544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33672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384548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4503420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4548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4535424" y="13780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654296" y="13780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35424" y="1408176"/>
            <a:ext cx="118872" cy="438912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4837176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4956048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837176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4988052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5106924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88052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5138928" y="15060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C4D8AC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5257800" y="15060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AFCB92"/>
          </a:solidFill>
          <a:ln w="1016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38928" y="1536192"/>
            <a:ext cx="118872" cy="310896"/>
          </a:xfrm>
          <a:prstGeom prst="rect">
            <a:avLst/>
          </a:prstGeom>
          <a:solidFill>
            <a:srgbClr val="D9E6C8"/>
          </a:solidFill>
          <a:ln w="1270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5999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99232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02736" y="19019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4005072" y="1563624"/>
            <a:ext cx="19202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718304" y="1627632"/>
            <a:ext cx="100584" cy="6400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520440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3639312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20440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3671315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790187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71315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3822191" y="216438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Freeform 93"/>
          <p:cNvSpPr/>
          <p:nvPr/>
        </p:nvSpPr>
        <p:spPr>
          <a:xfrm>
            <a:off x="3941063" y="2164384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22191" y="2194560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233672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4352544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233672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384548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503420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84548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535424" y="2292400"/>
            <a:ext cx="173735" cy="30176"/>
          </a:xfrm>
          <a:custGeom>
            <a:avLst/>
            <a:gdLst/>
            <a:ahLst/>
            <a:cxnLst/>
            <a:rect l="l" t="t" r="r" b="b"/>
            <a:pathLst>
              <a:path w="173735" h="30176">
                <a:moveTo>
                  <a:pt x="0" y="30176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4654296" y="2292400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6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535424" y="2322576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Freeform 104"/>
          <p:cNvSpPr/>
          <p:nvPr/>
        </p:nvSpPr>
        <p:spPr>
          <a:xfrm>
            <a:off x="4837176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4956048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837176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4988052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5106924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88052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5138928" y="2420416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5257800" y="2420416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38928" y="2450592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285999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99232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2736" y="281635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005072" y="2478024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4718304" y="2542032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3291840" y="1463040"/>
            <a:ext cx="192024" cy="109728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3291840" y="2432304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/>
          <p:cNvSpPr/>
          <p:nvPr/>
        </p:nvSpPr>
        <p:spPr>
          <a:xfrm>
            <a:off x="5440680" y="100584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DF5E4"/>
          </a:solidFill>
          <a:ln w="15240">
            <a:solidFill>
              <a:srgbClr val="6E9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98848" y="11338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Counter-guided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498848" y="13167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5486400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550408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486400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573268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5637276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573268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660136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724144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660136" y="1755648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5747004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811012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747004" y="1755648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5833872" y="1738045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5897880" y="1738045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33872" y="1755648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9" name="Connector 138"/>
          <p:cNvCxnSpPr/>
          <p:nvPr/>
        </p:nvCxnSpPr>
        <p:spPr>
          <a:xfrm>
            <a:off x="5321808" y="1691640"/>
            <a:ext cx="256032" cy="0"/>
          </a:xfrm>
          <a:prstGeom prst="line">
            <a:avLst/>
          </a:prstGeom>
          <a:ln w="16510">
            <a:solidFill>
              <a:srgbClr val="6E9A5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5577840" y="1554480"/>
            <a:ext cx="0" cy="137160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5724144" y="1554480"/>
            <a:ext cx="36576" cy="164592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Rounded Rectangle 141"/>
          <p:cNvSpPr/>
          <p:nvPr/>
        </p:nvSpPr>
        <p:spPr>
          <a:xfrm>
            <a:off x="6355080" y="1188720"/>
            <a:ext cx="2377440" cy="1554480"/>
          </a:xfrm>
          <a:prstGeom prst="roundRect">
            <a:avLst>
              <a:gd name="adj" fmla="val 3529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80760" y="126644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(Teacher)</a:t>
            </a:r>
          </a:p>
        </p:txBody>
      </p:sp>
      <p:sp>
        <p:nvSpPr>
          <p:cNvPr id="144" name="Freeform 143"/>
          <p:cNvSpPr/>
          <p:nvPr/>
        </p:nvSpPr>
        <p:spPr>
          <a:xfrm>
            <a:off x="6537960" y="153253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6922008" y="153253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537960" y="157276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7132320" y="160568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461504" y="160568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132320" y="164592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635240" y="166969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7909560" y="166969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635240" y="170992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03520" y="143103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154" name="Connector 153"/>
          <p:cNvCxnSpPr/>
          <p:nvPr/>
        </p:nvCxnSpPr>
        <p:spPr>
          <a:xfrm flipH="1" flipV="1">
            <a:off x="6580388" y="170444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6556613" y="16806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 flipV="1">
            <a:off x="6699260" y="173187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6812645" y="170809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6699260" y="181416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Oval 158"/>
          <p:cNvSpPr/>
          <p:nvPr/>
        </p:nvSpPr>
        <p:spPr>
          <a:xfrm>
            <a:off x="6794357" y="190926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H="1">
            <a:off x="6598676" y="181416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574901" y="190012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69999" y="178490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6710781" y="2125980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6685178" y="225125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5870448" y="15041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166" name="Connector 165"/>
          <p:cNvCxnSpPr/>
          <p:nvPr/>
        </p:nvCxnSpPr>
        <p:spPr>
          <a:xfrm flipH="1" flipV="1">
            <a:off x="7151705" y="173809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Oval 166"/>
          <p:cNvSpPr/>
          <p:nvPr/>
        </p:nvSpPr>
        <p:spPr>
          <a:xfrm>
            <a:off x="7127930" y="171431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8" name="Connector 167"/>
          <p:cNvCxnSpPr/>
          <p:nvPr/>
        </p:nvCxnSpPr>
        <p:spPr>
          <a:xfrm flipV="1">
            <a:off x="7270577" y="176552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Oval 168"/>
          <p:cNvSpPr/>
          <p:nvPr/>
        </p:nvSpPr>
        <p:spPr>
          <a:xfrm>
            <a:off x="7383962" y="174174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41316" y="181855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7280452" y="2116836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Oval 171"/>
          <p:cNvSpPr/>
          <p:nvPr/>
        </p:nvSpPr>
        <p:spPr>
          <a:xfrm>
            <a:off x="7254849" y="224210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45936" y="1568195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174" name="Connector 173"/>
          <p:cNvCxnSpPr/>
          <p:nvPr/>
        </p:nvCxnSpPr>
        <p:spPr>
          <a:xfrm flipH="1" flipV="1">
            <a:off x="7631582" y="176698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Oval 174"/>
          <p:cNvSpPr/>
          <p:nvPr/>
        </p:nvSpPr>
        <p:spPr>
          <a:xfrm>
            <a:off x="7607807" y="174321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721193" y="184745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7758683" y="210769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7733080" y="223296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9" name="Connector 178"/>
          <p:cNvCxnSpPr/>
          <p:nvPr/>
        </p:nvCxnSpPr>
        <p:spPr>
          <a:xfrm>
            <a:off x="6995160" y="182880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7534656" y="1874519"/>
            <a:ext cx="73152" cy="9145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reeform 180"/>
          <p:cNvSpPr/>
          <p:nvPr/>
        </p:nvSpPr>
        <p:spPr>
          <a:xfrm>
            <a:off x="818387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823417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8387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825245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830275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25245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8321040" y="158511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837133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321040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reeform 189"/>
          <p:cNvSpPr/>
          <p:nvPr/>
        </p:nvSpPr>
        <p:spPr>
          <a:xfrm>
            <a:off x="8389619" y="158511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8439911" y="158511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389619" y="160020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8604504" y="15544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cxnSp>
        <p:nvCxnSpPr>
          <p:cNvPr id="194" name="Connector 193"/>
          <p:cNvCxnSpPr/>
          <p:nvPr/>
        </p:nvCxnSpPr>
        <p:spPr>
          <a:xfrm flipV="1">
            <a:off x="5961888" y="1883664"/>
            <a:ext cx="539496" cy="54864"/>
          </a:xfrm>
          <a:prstGeom prst="line">
            <a:avLst/>
          </a:prstGeom>
          <a:ln w="16510">
            <a:solidFill>
              <a:srgbClr val="6E9A5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5321808" y="265176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6675120" y="2112264"/>
            <a:ext cx="0" cy="5394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reeform 196"/>
          <p:cNvSpPr/>
          <p:nvPr/>
        </p:nvSpPr>
        <p:spPr>
          <a:xfrm>
            <a:off x="8887968" y="1554480"/>
            <a:ext cx="640080" cy="960120"/>
          </a:xfrm>
          <a:custGeom>
            <a:avLst/>
            <a:gdLst/>
            <a:ahLst/>
            <a:cxnLst/>
            <a:rect l="l" t="t" r="r" b="b"/>
            <a:pathLst>
              <a:path w="640080" h="960120">
                <a:moveTo>
                  <a:pt x="0" y="0"/>
                </a:moveTo>
                <a:lnTo>
                  <a:pt x="640080" y="182880"/>
                </a:lnTo>
                <a:lnTo>
                  <a:pt x="640080" y="777240"/>
                </a:lnTo>
                <a:lnTo>
                  <a:pt x="0" y="96012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7699248" y="1920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8522208" y="1874519"/>
            <a:ext cx="347472" cy="64009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0" name="Picture 199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15544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1" name="TextBox 200"/>
          <p:cNvSpPr txBox="1"/>
          <p:nvPr/>
        </p:nvSpPr>
        <p:spPr>
          <a:xfrm>
            <a:off x="8531352" y="12801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Teacher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8531352" y="14264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203" name="Connector 202"/>
          <p:cNvCxnSpPr/>
          <p:nvPr/>
        </p:nvCxnSpPr>
        <p:spPr>
          <a:xfrm flipV="1">
            <a:off x="9528048" y="1901952"/>
            <a:ext cx="164592" cy="128016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ounded Rectangle 203"/>
          <p:cNvSpPr/>
          <p:nvPr/>
        </p:nvSpPr>
        <p:spPr>
          <a:xfrm>
            <a:off x="10442448" y="1005840"/>
            <a:ext cx="1600200" cy="1828800"/>
          </a:xfrm>
          <a:prstGeom prst="roundRect">
            <a:avLst>
              <a:gd name="adj" fmla="val 3428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774936" y="10698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Teacher supervision</a:t>
            </a:r>
          </a:p>
        </p:txBody>
      </p:sp>
      <p:pic>
        <p:nvPicPr>
          <p:cNvPr id="206" name="Picture 205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532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7" name="TextBox 206"/>
          <p:cNvSpPr txBox="1"/>
          <p:nvPr/>
        </p:nvSpPr>
        <p:spPr>
          <a:xfrm>
            <a:off x="940917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pic>
        <p:nvPicPr>
          <p:cNvPr id="208" name="Picture 207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56848" y="1417320"/>
            <a:ext cx="502920" cy="50292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209" name="TextBox 208"/>
          <p:cNvSpPr txBox="1"/>
          <p:nvPr/>
        </p:nvSpPr>
        <p:spPr>
          <a:xfrm>
            <a:off x="10140696" y="129844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TGD (off in CG0)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625328" y="239572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9774936" y="24871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 + optional TGD</a:t>
            </a:r>
          </a:p>
        </p:txBody>
      </p:sp>
      <p:cxnSp>
        <p:nvCxnSpPr>
          <p:cNvPr id="212" name="Connector 211"/>
          <p:cNvCxnSpPr/>
          <p:nvPr/>
        </p:nvCxnSpPr>
        <p:spPr>
          <a:xfrm flipV="1">
            <a:off x="10296144" y="1719072"/>
            <a:ext cx="292608" cy="118871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872216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H="1">
            <a:off x="11484864" y="1938528"/>
            <a:ext cx="118872" cy="42062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ounded Rectangle 214"/>
          <p:cNvSpPr/>
          <p:nvPr/>
        </p:nvSpPr>
        <p:spPr>
          <a:xfrm>
            <a:off x="5120640" y="2898648"/>
            <a:ext cx="4892040" cy="1481328"/>
          </a:xfrm>
          <a:prstGeom prst="roundRect">
            <a:avLst>
              <a:gd name="adj" fmla="val 3703"/>
            </a:avLst>
          </a:prstGeom>
          <a:solidFill>
            <a:srgbClr val="FBFAFE"/>
          </a:solidFill>
          <a:ln w="13970">
            <a:solidFill>
              <a:srgbClr val="9B7BC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099048" y="29672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7B5EA7"/>
                </a:solidFill>
                <a:latin typeface="Arial"/>
              </a:rPr>
              <a:t>Knowledge Distillation (training only)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5705856" y="2194560"/>
            <a:ext cx="0" cy="2816352"/>
          </a:xfrm>
          <a:prstGeom prst="line">
            <a:avLst/>
          </a:prstGeom>
          <a:ln w="1524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ounded Rectangle 217"/>
          <p:cNvSpPr/>
          <p:nvPr/>
        </p:nvSpPr>
        <p:spPr>
          <a:xfrm>
            <a:off x="5897880" y="324612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4892040" y="33329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Policy KD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5897880" y="3886200"/>
            <a:ext cx="914400" cy="329184"/>
          </a:xfrm>
          <a:prstGeom prst="roundRect">
            <a:avLst>
              <a:gd name="adj" fmla="val 27777"/>
            </a:avLst>
          </a:prstGeom>
          <a:solidFill>
            <a:srgbClr val="F6DEE3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4892040" y="39730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C44E62"/>
                </a:solidFill>
                <a:latin typeface="Arial"/>
              </a:rPr>
              <a:t>Evidence KD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5705856" y="3410712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5705856" y="4050791"/>
            <a:ext cx="173736" cy="0"/>
          </a:xfrm>
          <a:prstGeom prst="line">
            <a:avLst/>
          </a:prstGeom>
          <a:ln w="13970">
            <a:solidFill>
              <a:srgbClr val="CD5C5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/>
          <p:cNvSpPr/>
          <p:nvPr/>
        </p:nvSpPr>
        <p:spPr>
          <a:xfrm>
            <a:off x="6949440" y="3182112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720840" y="32141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Teacher policy on Student memory</a:t>
            </a:r>
          </a:p>
        </p:txBody>
      </p:sp>
      <p:sp>
        <p:nvSpPr>
          <p:cNvPr id="226" name="Freeform 225"/>
          <p:cNvSpPr/>
          <p:nvPr/>
        </p:nvSpPr>
        <p:spPr>
          <a:xfrm>
            <a:off x="7150607" y="3339846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Freeform 226"/>
          <p:cNvSpPr/>
          <p:nvPr/>
        </p:nvSpPr>
        <p:spPr>
          <a:xfrm>
            <a:off x="7461504" y="3339846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150607" y="3364992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Freeform 228"/>
          <p:cNvSpPr/>
          <p:nvPr/>
        </p:nvSpPr>
        <p:spPr>
          <a:xfrm>
            <a:off x="7635240" y="3358134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Freeform 229"/>
          <p:cNvSpPr/>
          <p:nvPr/>
        </p:nvSpPr>
        <p:spPr>
          <a:xfrm>
            <a:off x="7909560" y="3358134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635240" y="3383280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8046719" y="3376422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8284463" y="3376422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046719" y="3401568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7268565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180783" y="3419856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363663" y="3566160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736738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131759" y="3489350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7498079" y="3511296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7946136" y="3520440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6949440" y="3794760"/>
            <a:ext cx="2788920" cy="548640"/>
          </a:xfrm>
          <a:prstGeom prst="roundRect">
            <a:avLst>
              <a:gd name="adj" fmla="val 8333"/>
            </a:avLst>
          </a:prstGeom>
          <a:noFill/>
          <a:ln w="9525">
            <a:solidFill>
              <a:srgbClr val="C3B3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20840" y="38267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333333"/>
                </a:solidFill>
                <a:latin typeface="Arial"/>
              </a:rPr>
              <a:t>Student policy on same memory</a:t>
            </a:r>
          </a:p>
        </p:txBody>
      </p:sp>
      <p:sp>
        <p:nvSpPr>
          <p:cNvPr id="244" name="Freeform 243"/>
          <p:cNvSpPr/>
          <p:nvPr/>
        </p:nvSpPr>
        <p:spPr>
          <a:xfrm>
            <a:off x="7150607" y="3952494"/>
            <a:ext cx="356617" cy="25146"/>
          </a:xfrm>
          <a:custGeom>
            <a:avLst/>
            <a:gdLst/>
            <a:ahLst/>
            <a:cxnLst/>
            <a:rect l="l" t="t" r="r" b="b"/>
            <a:pathLst>
              <a:path w="356617" h="25146">
                <a:moveTo>
                  <a:pt x="0" y="25146"/>
                </a:moveTo>
                <a:lnTo>
                  <a:pt x="45720" y="0"/>
                </a:lnTo>
                <a:lnTo>
                  <a:pt x="356617" y="0"/>
                </a:lnTo>
                <a:lnTo>
                  <a:pt x="310897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Freeform 244"/>
          <p:cNvSpPr/>
          <p:nvPr/>
        </p:nvSpPr>
        <p:spPr>
          <a:xfrm>
            <a:off x="7461504" y="3952494"/>
            <a:ext cx="45720" cy="317754"/>
          </a:xfrm>
          <a:custGeom>
            <a:avLst/>
            <a:gdLst/>
            <a:ahLst/>
            <a:cxnLst/>
            <a:rect l="l" t="t" r="r" b="b"/>
            <a:pathLst>
              <a:path w="45720" h="317754">
                <a:moveTo>
                  <a:pt x="0" y="25146"/>
                </a:moveTo>
                <a:lnTo>
                  <a:pt x="45720" y="0"/>
                </a:lnTo>
                <a:lnTo>
                  <a:pt x="45720" y="292608"/>
                </a:lnTo>
                <a:lnTo>
                  <a:pt x="0" y="317754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150607" y="3977640"/>
            <a:ext cx="310896" cy="292608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Freeform 246"/>
          <p:cNvSpPr/>
          <p:nvPr/>
        </p:nvSpPr>
        <p:spPr>
          <a:xfrm>
            <a:off x="7635240" y="3970782"/>
            <a:ext cx="320040" cy="25146"/>
          </a:xfrm>
          <a:custGeom>
            <a:avLst/>
            <a:gdLst/>
            <a:ahLst/>
            <a:cxnLst/>
            <a:rect l="l" t="t" r="r" b="b"/>
            <a:pathLst>
              <a:path w="320040" h="25146">
                <a:moveTo>
                  <a:pt x="0" y="25146"/>
                </a:moveTo>
                <a:lnTo>
                  <a:pt x="45720" y="0"/>
                </a:lnTo>
                <a:lnTo>
                  <a:pt x="320040" y="0"/>
                </a:lnTo>
                <a:lnTo>
                  <a:pt x="274320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Freeform 247"/>
          <p:cNvSpPr/>
          <p:nvPr/>
        </p:nvSpPr>
        <p:spPr>
          <a:xfrm>
            <a:off x="7909560" y="3970782"/>
            <a:ext cx="45720" cy="281178"/>
          </a:xfrm>
          <a:custGeom>
            <a:avLst/>
            <a:gdLst/>
            <a:ahLst/>
            <a:cxnLst/>
            <a:rect l="l" t="t" r="r" b="b"/>
            <a:pathLst>
              <a:path w="45720" h="281178">
                <a:moveTo>
                  <a:pt x="0" y="25146"/>
                </a:moveTo>
                <a:lnTo>
                  <a:pt x="45720" y="0"/>
                </a:lnTo>
                <a:lnTo>
                  <a:pt x="45720" y="256032"/>
                </a:lnTo>
                <a:lnTo>
                  <a:pt x="0" y="281178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635240" y="3995928"/>
            <a:ext cx="274320" cy="256032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Freeform 249"/>
          <p:cNvSpPr/>
          <p:nvPr/>
        </p:nvSpPr>
        <p:spPr>
          <a:xfrm>
            <a:off x="8046719" y="3989070"/>
            <a:ext cx="283464" cy="25146"/>
          </a:xfrm>
          <a:custGeom>
            <a:avLst/>
            <a:gdLst/>
            <a:ahLst/>
            <a:cxnLst/>
            <a:rect l="l" t="t" r="r" b="b"/>
            <a:pathLst>
              <a:path w="283464" h="25146">
                <a:moveTo>
                  <a:pt x="0" y="25146"/>
                </a:moveTo>
                <a:lnTo>
                  <a:pt x="45721" y="0"/>
                </a:lnTo>
                <a:lnTo>
                  <a:pt x="283464" y="0"/>
                </a:lnTo>
                <a:lnTo>
                  <a:pt x="237744" y="25146"/>
                </a:lnTo>
                <a:close/>
              </a:path>
            </a:pathLst>
          </a:custGeom>
          <a:solidFill>
            <a:srgbClr val="B4D3F0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Freeform 250"/>
          <p:cNvSpPr/>
          <p:nvPr/>
        </p:nvSpPr>
        <p:spPr>
          <a:xfrm>
            <a:off x="8284463" y="3989070"/>
            <a:ext cx="45720" cy="244602"/>
          </a:xfrm>
          <a:custGeom>
            <a:avLst/>
            <a:gdLst/>
            <a:ahLst/>
            <a:cxnLst/>
            <a:rect l="l" t="t" r="r" b="b"/>
            <a:pathLst>
              <a:path w="45720" h="244602">
                <a:moveTo>
                  <a:pt x="0" y="25146"/>
                </a:moveTo>
                <a:lnTo>
                  <a:pt x="45720" y="0"/>
                </a:lnTo>
                <a:lnTo>
                  <a:pt x="45720" y="219456"/>
                </a:lnTo>
                <a:lnTo>
                  <a:pt x="0" y="244602"/>
                </a:lnTo>
                <a:close/>
              </a:path>
            </a:pathLst>
          </a:custGeom>
          <a:solidFill>
            <a:srgbClr val="96C2EA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8046719" y="4014216"/>
            <a:ext cx="237744" cy="219456"/>
          </a:xfrm>
          <a:prstGeom prst="rect">
            <a:avLst/>
          </a:prstGeom>
          <a:solidFill>
            <a:srgbClr val="D2E5F7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7268565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180783" y="4032504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363663" y="4178808"/>
            <a:ext cx="36576" cy="3657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36738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8131759" y="4101998"/>
            <a:ext cx="43891" cy="43891"/>
          </a:xfrm>
          <a:prstGeom prst="ellipse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7498079" y="4123944"/>
            <a:ext cx="109729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946136" y="4133088"/>
            <a:ext cx="73152" cy="0"/>
          </a:xfrm>
          <a:prstGeom prst="line">
            <a:avLst/>
          </a:prstGeom>
          <a:ln w="1143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6812280" y="3410712"/>
            <a:ext cx="301752" cy="64008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6812280" y="4050791"/>
            <a:ext cx="301752" cy="64009"/>
          </a:xfrm>
          <a:prstGeom prst="line">
            <a:avLst/>
          </a:prstGeom>
          <a:ln w="1397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Freeform 261"/>
          <p:cNvSpPr/>
          <p:nvPr/>
        </p:nvSpPr>
        <p:spPr>
          <a:xfrm>
            <a:off x="9418320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Freeform 262"/>
          <p:cNvSpPr/>
          <p:nvPr/>
        </p:nvSpPr>
        <p:spPr>
          <a:xfrm>
            <a:off x="9464040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418320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Freeform 264"/>
          <p:cNvSpPr/>
          <p:nvPr/>
        </p:nvSpPr>
        <p:spPr>
          <a:xfrm>
            <a:off x="9418320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Freeform 265"/>
          <p:cNvSpPr/>
          <p:nvPr/>
        </p:nvSpPr>
        <p:spPr>
          <a:xfrm>
            <a:off x="9464040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418320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Freeform 267"/>
          <p:cNvSpPr/>
          <p:nvPr/>
        </p:nvSpPr>
        <p:spPr>
          <a:xfrm>
            <a:off x="9482328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Freeform 268"/>
          <p:cNvSpPr/>
          <p:nvPr/>
        </p:nvSpPr>
        <p:spPr>
          <a:xfrm>
            <a:off x="9528048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482328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Freeform 270"/>
          <p:cNvSpPr/>
          <p:nvPr/>
        </p:nvSpPr>
        <p:spPr>
          <a:xfrm>
            <a:off x="9482328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Freeform 271"/>
          <p:cNvSpPr/>
          <p:nvPr/>
        </p:nvSpPr>
        <p:spPr>
          <a:xfrm>
            <a:off x="9528048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482328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9546336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Freeform 274"/>
          <p:cNvSpPr/>
          <p:nvPr/>
        </p:nvSpPr>
        <p:spPr>
          <a:xfrm>
            <a:off x="9592056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546336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Freeform 276"/>
          <p:cNvSpPr/>
          <p:nvPr/>
        </p:nvSpPr>
        <p:spPr>
          <a:xfrm>
            <a:off x="9546336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Freeform 277"/>
          <p:cNvSpPr/>
          <p:nvPr/>
        </p:nvSpPr>
        <p:spPr>
          <a:xfrm>
            <a:off x="9592056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546336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Freeform 279"/>
          <p:cNvSpPr/>
          <p:nvPr/>
        </p:nvSpPr>
        <p:spPr>
          <a:xfrm>
            <a:off x="9610344" y="3279267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Freeform 280"/>
          <p:cNvSpPr/>
          <p:nvPr/>
        </p:nvSpPr>
        <p:spPr>
          <a:xfrm>
            <a:off x="9656064" y="3279267"/>
            <a:ext cx="22860" cy="341757"/>
          </a:xfrm>
          <a:custGeom>
            <a:avLst/>
            <a:gdLst/>
            <a:ahLst/>
            <a:cxnLst/>
            <a:rect l="l" t="t" r="r" b="b"/>
            <a:pathLst>
              <a:path w="22860" h="341757">
                <a:moveTo>
                  <a:pt x="0" y="12573"/>
                </a:moveTo>
                <a:lnTo>
                  <a:pt x="22860" y="0"/>
                </a:lnTo>
                <a:lnTo>
                  <a:pt x="22860" y="329184"/>
                </a:lnTo>
                <a:lnTo>
                  <a:pt x="0" y="341757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10344" y="3291840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Freeform 282"/>
          <p:cNvSpPr/>
          <p:nvPr/>
        </p:nvSpPr>
        <p:spPr>
          <a:xfrm>
            <a:off x="9610344" y="3891914"/>
            <a:ext cx="68580" cy="12573"/>
          </a:xfrm>
          <a:custGeom>
            <a:avLst/>
            <a:gdLst/>
            <a:ahLst/>
            <a:cxnLst/>
            <a:rect l="l" t="t" r="r" b="b"/>
            <a:pathLst>
              <a:path w="68580" h="12573">
                <a:moveTo>
                  <a:pt x="0" y="12573"/>
                </a:moveTo>
                <a:lnTo>
                  <a:pt x="22860" y="0"/>
                </a:lnTo>
                <a:lnTo>
                  <a:pt x="68580" y="0"/>
                </a:lnTo>
                <a:lnTo>
                  <a:pt x="45720" y="12573"/>
                </a:lnTo>
                <a:close/>
              </a:path>
            </a:pathLst>
          </a:custGeom>
          <a:solidFill>
            <a:srgbClr val="C8B9E6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Freeform 283"/>
          <p:cNvSpPr/>
          <p:nvPr/>
        </p:nvSpPr>
        <p:spPr>
          <a:xfrm>
            <a:off x="9656064" y="3891914"/>
            <a:ext cx="22860" cy="341758"/>
          </a:xfrm>
          <a:custGeom>
            <a:avLst/>
            <a:gdLst/>
            <a:ahLst/>
            <a:cxnLst/>
            <a:rect l="l" t="t" r="r" b="b"/>
            <a:pathLst>
              <a:path w="22860" h="341758">
                <a:moveTo>
                  <a:pt x="0" y="12573"/>
                </a:moveTo>
                <a:lnTo>
                  <a:pt x="22860" y="0"/>
                </a:lnTo>
                <a:lnTo>
                  <a:pt x="22860" y="329185"/>
                </a:lnTo>
                <a:lnTo>
                  <a:pt x="0" y="341758"/>
                </a:lnTo>
                <a:close/>
              </a:path>
            </a:pathLst>
          </a:custGeom>
          <a:solidFill>
            <a:srgbClr val="B3A3DE"/>
          </a:solidFill>
          <a:ln w="7111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610344" y="3904487"/>
            <a:ext cx="45720" cy="329184"/>
          </a:xfrm>
          <a:prstGeom prst="rect">
            <a:avLst/>
          </a:prstGeom>
          <a:solidFill>
            <a:srgbClr val="DCD3F0"/>
          </a:solidFill>
          <a:ln w="889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9710928" y="3182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T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9710928" y="37947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00" b="1" i="1">
                <a:solidFill>
                  <a:srgbClr val="6B4FA0"/>
                </a:solidFill>
                <a:latin typeface="Arial"/>
              </a:rPr>
              <a:t>F</a:t>
            </a:r>
            <a:r>
              <a:rPr sz="9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288" name="Connector 287"/>
          <p:cNvCxnSpPr/>
          <p:nvPr/>
        </p:nvCxnSpPr>
        <p:spPr>
          <a:xfrm flipV="1">
            <a:off x="9253728" y="3493008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 flipV="1">
            <a:off x="9253728" y="4105656"/>
            <a:ext cx="146304" cy="18288"/>
          </a:xfrm>
          <a:prstGeom prst="line">
            <a:avLst/>
          </a:prstGeom>
          <a:ln w="1270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9546336" y="3648456"/>
            <a:ext cx="0" cy="228600"/>
          </a:xfrm>
          <a:prstGeom prst="line">
            <a:avLst/>
          </a:prstGeom>
          <a:ln w="16510">
            <a:solidFill>
              <a:srgbClr val="7B5EA7"/>
            </a:solidFill>
            <a:tailEnd type="triangle" w="med" len="med"/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9784080" y="3483864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50" b="1" i="0">
                <a:solidFill>
                  <a:srgbClr val="7B5EA7"/>
                </a:solidFill>
                <a:latin typeface="Arial"/>
              </a:rPr>
              <a:t>Align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91440" y="4489704"/>
            <a:ext cx="12006072" cy="38404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82880" y="4562856"/>
            <a:ext cx="68580" cy="237744"/>
          </a:xfrm>
          <a:prstGeom prst="rect">
            <a:avLst/>
          </a:prstGeom>
          <a:solidFill>
            <a:srgbClr val="2F5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338328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Arial"/>
              </a:rPr>
              <a:t>Student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517904" y="4407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7A9CC6"/>
                </a:solidFill>
                <a:latin typeface="Arial"/>
              </a:rPr>
              <a:t>(target-only inference)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64592" y="4983480"/>
            <a:ext cx="2139696" cy="914400"/>
          </a:xfrm>
          <a:prstGeom prst="roundRect">
            <a:avLst>
              <a:gd name="adj" fmla="val 8000"/>
            </a:avLst>
          </a:prstGeom>
          <a:solidFill>
            <a:srgbClr val="EBF2F9"/>
          </a:solidFill>
          <a:ln w="12700">
            <a:solidFill>
              <a:srgbClr val="C2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265176" y="52578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Target orbit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265176" y="54589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33415C"/>
                </a:solidFill>
                <a:latin typeface="Arial"/>
              </a:rPr>
              <a:t>(ASC)</a:t>
            </a:r>
          </a:p>
        </p:txBody>
      </p:sp>
      <p:pic>
        <p:nvPicPr>
          <p:cNvPr id="299" name="Picture 298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5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0" name="Picture 299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1" name="Picture 300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2" name="Picture 301" descr="t_vh_p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3" name="Picture 302" descr="t_vv_p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1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4" name="Picture 303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65376" y="5038344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5" name="Picture 304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074920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6" name="Picture 305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92224" y="5111496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7" name="Picture 306" descr="t_vh_po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5648" y="5148072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pic>
        <p:nvPicPr>
          <p:cNvPr id="308" name="Picture 307" descr="t_vv_po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9072" y="5184648"/>
            <a:ext cx="329184" cy="329184"/>
          </a:xfrm>
          <a:prstGeom prst="rect">
            <a:avLst/>
          </a:prstGeom>
          <a:ln w="6350">
            <a:solidFill>
              <a:srgbClr val="8A8A8A"/>
            </a:solidFill>
          </a:ln>
        </p:spPr>
      </p:pic>
      <p:sp>
        <p:nvSpPr>
          <p:cNvPr id="309" name="TextBox 308"/>
          <p:cNvSpPr txBox="1"/>
          <p:nvPr/>
        </p:nvSpPr>
        <p:spPr>
          <a:xfrm>
            <a:off x="-192024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pre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493776" y="555040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post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-33832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-64008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47471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VV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21792" y="56784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00" b="0" i="0">
                <a:solidFill>
                  <a:srgbClr val="808080"/>
                </a:solidFill>
                <a:latin typeface="Arial"/>
              </a:rPr>
              <a:t>VH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758952" y="534924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08080"/>
                </a:solidFill>
                <a:latin typeface="Arial"/>
              </a:rPr>
              <a:t>⋮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457200" y="590702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50" b="0" i="0">
                <a:solidFill>
                  <a:srgbClr val="808080"/>
                </a:solidFill>
                <a:latin typeface="Arial"/>
              </a:rPr>
              <a:t>5-channel SAR input</a:t>
            </a:r>
          </a:p>
        </p:txBody>
      </p:sp>
      <p:sp>
        <p:nvSpPr>
          <p:cNvPr id="317" name="Freeform 316"/>
          <p:cNvSpPr/>
          <p:nvPr/>
        </p:nvSpPr>
        <p:spPr>
          <a:xfrm>
            <a:off x="2395728" y="5120640"/>
            <a:ext cx="850392" cy="676656"/>
          </a:xfrm>
          <a:custGeom>
            <a:avLst/>
            <a:gdLst/>
            <a:ahLst/>
            <a:cxnLst/>
            <a:rect l="l" t="t" r="r" b="b"/>
            <a:pathLst>
              <a:path w="850392" h="676656">
                <a:moveTo>
                  <a:pt x="0" y="0"/>
                </a:moveTo>
                <a:lnTo>
                  <a:pt x="850392" y="128015"/>
                </a:lnTo>
                <a:lnTo>
                  <a:pt x="850392" y="548639"/>
                </a:lnTo>
                <a:lnTo>
                  <a:pt x="0" y="676656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335024" y="5321807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ConvNeXt-Tiny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335024" y="546811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0" i="0">
                <a:solidFill>
                  <a:srgbClr val="333333"/>
                </a:solidFill>
                <a:latin typeface="Arial"/>
              </a:rPr>
              <a:t>+ FPN</a:t>
            </a:r>
          </a:p>
        </p:txBody>
      </p:sp>
      <p:cxnSp>
        <p:nvCxnSpPr>
          <p:cNvPr id="320" name="Connector 319"/>
          <p:cNvCxnSpPr/>
          <p:nvPr/>
        </p:nvCxnSpPr>
        <p:spPr>
          <a:xfrm>
            <a:off x="2322576" y="5431536"/>
            <a:ext cx="54864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3520440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Freeform 321"/>
          <p:cNvSpPr/>
          <p:nvPr/>
        </p:nvSpPr>
        <p:spPr>
          <a:xfrm>
            <a:off x="3639312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3520440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Freeform 323"/>
          <p:cNvSpPr/>
          <p:nvPr/>
        </p:nvSpPr>
        <p:spPr>
          <a:xfrm>
            <a:off x="3671315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Freeform 324"/>
          <p:cNvSpPr/>
          <p:nvPr/>
        </p:nvSpPr>
        <p:spPr>
          <a:xfrm>
            <a:off x="3790187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3671315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Freeform 326"/>
          <p:cNvSpPr/>
          <p:nvPr/>
        </p:nvSpPr>
        <p:spPr>
          <a:xfrm>
            <a:off x="3822191" y="5200192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Freeform 327"/>
          <p:cNvSpPr/>
          <p:nvPr/>
        </p:nvSpPr>
        <p:spPr>
          <a:xfrm>
            <a:off x="3941063" y="5200192"/>
            <a:ext cx="54864" cy="597104"/>
          </a:xfrm>
          <a:custGeom>
            <a:avLst/>
            <a:gdLst/>
            <a:ahLst/>
            <a:cxnLst/>
            <a:rect l="l" t="t" r="r" b="b"/>
            <a:pathLst>
              <a:path w="54864" h="597104">
                <a:moveTo>
                  <a:pt x="0" y="30176"/>
                </a:moveTo>
                <a:lnTo>
                  <a:pt x="54864" y="0"/>
                </a:lnTo>
                <a:lnTo>
                  <a:pt x="54864" y="566928"/>
                </a:lnTo>
                <a:lnTo>
                  <a:pt x="0" y="59710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822191" y="5230368"/>
            <a:ext cx="118872" cy="566928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Freeform 329"/>
          <p:cNvSpPr/>
          <p:nvPr/>
        </p:nvSpPr>
        <p:spPr>
          <a:xfrm>
            <a:off x="4233672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Freeform 330"/>
          <p:cNvSpPr/>
          <p:nvPr/>
        </p:nvSpPr>
        <p:spPr>
          <a:xfrm>
            <a:off x="4352544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4233672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Freeform 332"/>
          <p:cNvSpPr/>
          <p:nvPr/>
        </p:nvSpPr>
        <p:spPr>
          <a:xfrm>
            <a:off x="4384548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Freeform 333"/>
          <p:cNvSpPr/>
          <p:nvPr/>
        </p:nvSpPr>
        <p:spPr>
          <a:xfrm>
            <a:off x="4503420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384548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Freeform 335"/>
          <p:cNvSpPr/>
          <p:nvPr/>
        </p:nvSpPr>
        <p:spPr>
          <a:xfrm>
            <a:off x="4535424" y="5328208"/>
            <a:ext cx="173735" cy="30175"/>
          </a:xfrm>
          <a:custGeom>
            <a:avLst/>
            <a:gdLst/>
            <a:ahLst/>
            <a:cxnLst/>
            <a:rect l="l" t="t" r="r" b="b"/>
            <a:pathLst>
              <a:path w="173735" h="30175">
                <a:moveTo>
                  <a:pt x="0" y="30175"/>
                </a:moveTo>
                <a:lnTo>
                  <a:pt x="54864" y="0"/>
                </a:lnTo>
                <a:lnTo>
                  <a:pt x="173735" y="0"/>
                </a:lnTo>
                <a:lnTo>
                  <a:pt x="118872" y="30175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Freeform 336"/>
          <p:cNvSpPr/>
          <p:nvPr/>
        </p:nvSpPr>
        <p:spPr>
          <a:xfrm>
            <a:off x="4654296" y="5328208"/>
            <a:ext cx="54863" cy="469088"/>
          </a:xfrm>
          <a:custGeom>
            <a:avLst/>
            <a:gdLst/>
            <a:ahLst/>
            <a:cxnLst/>
            <a:rect l="l" t="t" r="r" b="b"/>
            <a:pathLst>
              <a:path w="54863" h="469088">
                <a:moveTo>
                  <a:pt x="0" y="30175"/>
                </a:moveTo>
                <a:lnTo>
                  <a:pt x="54863" y="0"/>
                </a:lnTo>
                <a:lnTo>
                  <a:pt x="54863" y="438912"/>
                </a:lnTo>
                <a:lnTo>
                  <a:pt x="0" y="46908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535424" y="5358383"/>
            <a:ext cx="118872" cy="43891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Freeform 338"/>
          <p:cNvSpPr/>
          <p:nvPr/>
        </p:nvSpPr>
        <p:spPr>
          <a:xfrm>
            <a:off x="4837176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Freeform 339"/>
          <p:cNvSpPr/>
          <p:nvPr/>
        </p:nvSpPr>
        <p:spPr>
          <a:xfrm>
            <a:off x="4956048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4837176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Freeform 341"/>
          <p:cNvSpPr/>
          <p:nvPr/>
        </p:nvSpPr>
        <p:spPr>
          <a:xfrm>
            <a:off x="4988052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Freeform 342"/>
          <p:cNvSpPr/>
          <p:nvPr/>
        </p:nvSpPr>
        <p:spPr>
          <a:xfrm>
            <a:off x="5106924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988052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Freeform 344"/>
          <p:cNvSpPr/>
          <p:nvPr/>
        </p:nvSpPr>
        <p:spPr>
          <a:xfrm>
            <a:off x="5138928" y="5456224"/>
            <a:ext cx="173736" cy="30176"/>
          </a:xfrm>
          <a:custGeom>
            <a:avLst/>
            <a:gdLst/>
            <a:ahLst/>
            <a:cxnLst/>
            <a:rect l="l" t="t" r="r" b="b"/>
            <a:pathLst>
              <a:path w="173736" h="30176">
                <a:moveTo>
                  <a:pt x="0" y="30176"/>
                </a:moveTo>
                <a:lnTo>
                  <a:pt x="54864" y="0"/>
                </a:lnTo>
                <a:lnTo>
                  <a:pt x="173736" y="0"/>
                </a:lnTo>
                <a:lnTo>
                  <a:pt x="118872" y="30176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Freeform 345"/>
          <p:cNvSpPr/>
          <p:nvPr/>
        </p:nvSpPr>
        <p:spPr>
          <a:xfrm>
            <a:off x="5257800" y="5456224"/>
            <a:ext cx="54864" cy="341072"/>
          </a:xfrm>
          <a:custGeom>
            <a:avLst/>
            <a:gdLst/>
            <a:ahLst/>
            <a:cxnLst/>
            <a:rect l="l" t="t" r="r" b="b"/>
            <a:pathLst>
              <a:path w="54864" h="341072">
                <a:moveTo>
                  <a:pt x="0" y="30176"/>
                </a:moveTo>
                <a:lnTo>
                  <a:pt x="54864" y="0"/>
                </a:lnTo>
                <a:lnTo>
                  <a:pt x="54864" y="310896"/>
                </a:lnTo>
                <a:lnTo>
                  <a:pt x="0" y="341072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5138928" y="5486400"/>
            <a:ext cx="118872" cy="310896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2285999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2999232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3602736" y="5852159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4005072" y="5513832"/>
            <a:ext cx="19202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4718304" y="5577840"/>
            <a:ext cx="100584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3291840" y="5458968"/>
            <a:ext cx="192024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ounded Rectangle 353"/>
          <p:cNvSpPr/>
          <p:nvPr/>
        </p:nvSpPr>
        <p:spPr>
          <a:xfrm>
            <a:off x="5394960" y="5029200"/>
            <a:ext cx="914400" cy="411480"/>
          </a:xfrm>
          <a:prstGeom prst="roundRect">
            <a:avLst>
              <a:gd name="adj" fmla="val 17777"/>
            </a:avLst>
          </a:prstGeom>
          <a:solidFill>
            <a:srgbClr val="E7F0FB"/>
          </a:solidFill>
          <a:ln w="1524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4389120" y="513892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Policy</a:t>
            </a:r>
          </a:p>
        </p:txBody>
      </p:sp>
      <p:sp>
        <p:nvSpPr>
          <p:cNvPr id="356" name="Freeform 355"/>
          <p:cNvSpPr/>
          <p:nvPr/>
        </p:nvSpPr>
        <p:spPr>
          <a:xfrm>
            <a:off x="5486400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Freeform 356"/>
          <p:cNvSpPr/>
          <p:nvPr/>
        </p:nvSpPr>
        <p:spPr>
          <a:xfrm>
            <a:off x="5550408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5486400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Freeform 358"/>
          <p:cNvSpPr/>
          <p:nvPr/>
        </p:nvSpPr>
        <p:spPr>
          <a:xfrm>
            <a:off x="5573268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Freeform 359"/>
          <p:cNvSpPr/>
          <p:nvPr/>
        </p:nvSpPr>
        <p:spPr>
          <a:xfrm>
            <a:off x="5637276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5573268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Freeform 361"/>
          <p:cNvSpPr/>
          <p:nvPr/>
        </p:nvSpPr>
        <p:spPr>
          <a:xfrm>
            <a:off x="5660136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Freeform 362"/>
          <p:cNvSpPr/>
          <p:nvPr/>
        </p:nvSpPr>
        <p:spPr>
          <a:xfrm>
            <a:off x="5724144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9FC0E8"/>
          </a:solidFill>
          <a:ln w="8128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5660136" y="5614416"/>
            <a:ext cx="64008" cy="411480"/>
          </a:xfrm>
          <a:prstGeom prst="rect">
            <a:avLst/>
          </a:prstGeom>
          <a:solidFill>
            <a:srgbClr val="9FC0E8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Freeform 364"/>
          <p:cNvSpPr/>
          <p:nvPr/>
        </p:nvSpPr>
        <p:spPr>
          <a:xfrm>
            <a:off x="5747004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Freeform 365"/>
          <p:cNvSpPr/>
          <p:nvPr/>
        </p:nvSpPr>
        <p:spPr>
          <a:xfrm>
            <a:off x="5811012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C5B3E0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747004" y="5614416"/>
            <a:ext cx="64008" cy="411480"/>
          </a:xfrm>
          <a:prstGeom prst="rect">
            <a:avLst/>
          </a:prstGeom>
          <a:solidFill>
            <a:srgbClr val="C5B3E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Freeform 367"/>
          <p:cNvSpPr/>
          <p:nvPr/>
        </p:nvSpPr>
        <p:spPr>
          <a:xfrm>
            <a:off x="5833872" y="5596813"/>
            <a:ext cx="96012" cy="17603"/>
          </a:xfrm>
          <a:custGeom>
            <a:avLst/>
            <a:gdLst/>
            <a:ahLst/>
            <a:cxnLst/>
            <a:rect l="l" t="t" r="r" b="b"/>
            <a:pathLst>
              <a:path w="96012" h="17603">
                <a:moveTo>
                  <a:pt x="0" y="17603"/>
                </a:moveTo>
                <a:lnTo>
                  <a:pt x="32004" y="0"/>
                </a:lnTo>
                <a:lnTo>
                  <a:pt x="96012" y="0"/>
                </a:lnTo>
                <a:lnTo>
                  <a:pt x="64008" y="1760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Freeform 368"/>
          <p:cNvSpPr/>
          <p:nvPr/>
        </p:nvSpPr>
        <p:spPr>
          <a:xfrm>
            <a:off x="5897880" y="5596813"/>
            <a:ext cx="32004" cy="429083"/>
          </a:xfrm>
          <a:custGeom>
            <a:avLst/>
            <a:gdLst/>
            <a:ahLst/>
            <a:cxnLst/>
            <a:rect l="l" t="t" r="r" b="b"/>
            <a:pathLst>
              <a:path w="32004" h="429083">
                <a:moveTo>
                  <a:pt x="0" y="17603"/>
                </a:moveTo>
                <a:lnTo>
                  <a:pt x="32004" y="0"/>
                </a:lnTo>
                <a:lnTo>
                  <a:pt x="32004" y="411480"/>
                </a:lnTo>
                <a:lnTo>
                  <a:pt x="0" y="429083"/>
                </a:lnTo>
                <a:close/>
              </a:path>
            </a:pathLst>
          </a:custGeom>
          <a:solidFill>
            <a:srgbClr val="E4B87F"/>
          </a:solidFill>
          <a:ln w="8128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833872" y="5614416"/>
            <a:ext cx="64008" cy="411480"/>
          </a:xfrm>
          <a:prstGeom prst="rect">
            <a:avLst/>
          </a:prstGeom>
          <a:solidFill>
            <a:srgbClr val="E4B87F"/>
          </a:solidFill>
          <a:ln w="10160">
            <a:solidFill>
              <a:srgbClr val="C99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H="1">
            <a:off x="5212080" y="5641848"/>
            <a:ext cx="109728" cy="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212080" y="5230368"/>
            <a:ext cx="0" cy="411480"/>
          </a:xfrm>
          <a:prstGeom prst="line">
            <a:avLst/>
          </a:prstGeom>
          <a:ln w="1651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5212080" y="5230368"/>
            <a:ext cx="164592" cy="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H="1">
            <a:off x="5724144" y="5458968"/>
            <a:ext cx="36576" cy="118872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Rounded Rectangle 374"/>
          <p:cNvSpPr/>
          <p:nvPr/>
        </p:nvSpPr>
        <p:spPr>
          <a:xfrm>
            <a:off x="6355080" y="4983480"/>
            <a:ext cx="2377440" cy="1143000"/>
          </a:xfrm>
          <a:prstGeom prst="roundRect">
            <a:avLst>
              <a:gd name="adj" fmla="val 4800"/>
            </a:avLst>
          </a:prstGeom>
          <a:noFill/>
          <a:ln w="12700">
            <a:solidFill>
              <a:srgbClr val="7E6BB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080760" y="5061204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33333"/>
                </a:solidFill>
                <a:latin typeface="Arial"/>
              </a:rPr>
              <a:t>Adaptive Search (Student)</a:t>
            </a:r>
          </a:p>
        </p:txBody>
      </p:sp>
      <p:sp>
        <p:nvSpPr>
          <p:cNvPr id="377" name="Freeform 376"/>
          <p:cNvSpPr/>
          <p:nvPr/>
        </p:nvSpPr>
        <p:spPr>
          <a:xfrm>
            <a:off x="6537960" y="5373014"/>
            <a:ext cx="457200" cy="40234"/>
          </a:xfrm>
          <a:custGeom>
            <a:avLst/>
            <a:gdLst/>
            <a:ahLst/>
            <a:cxnLst/>
            <a:rect l="l" t="t" r="r" b="b"/>
            <a:pathLst>
              <a:path w="457200" h="40234">
                <a:moveTo>
                  <a:pt x="0" y="40234"/>
                </a:moveTo>
                <a:lnTo>
                  <a:pt x="73152" y="0"/>
                </a:lnTo>
                <a:lnTo>
                  <a:pt x="457200" y="0"/>
                </a:lnTo>
                <a:lnTo>
                  <a:pt x="384048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Freeform 377"/>
          <p:cNvSpPr/>
          <p:nvPr/>
        </p:nvSpPr>
        <p:spPr>
          <a:xfrm>
            <a:off x="6922008" y="5373014"/>
            <a:ext cx="73152" cy="543154"/>
          </a:xfrm>
          <a:custGeom>
            <a:avLst/>
            <a:gdLst/>
            <a:ahLst/>
            <a:cxnLst/>
            <a:rect l="l" t="t" r="r" b="b"/>
            <a:pathLst>
              <a:path w="73152" h="543154">
                <a:moveTo>
                  <a:pt x="0" y="40234"/>
                </a:moveTo>
                <a:lnTo>
                  <a:pt x="73152" y="0"/>
                </a:lnTo>
                <a:lnTo>
                  <a:pt x="73152" y="502920"/>
                </a:lnTo>
                <a:lnTo>
                  <a:pt x="0" y="543154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537960" y="5413248"/>
            <a:ext cx="384048" cy="502920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Freeform 379"/>
          <p:cNvSpPr/>
          <p:nvPr/>
        </p:nvSpPr>
        <p:spPr>
          <a:xfrm>
            <a:off x="7132320" y="5446166"/>
            <a:ext cx="402336" cy="40234"/>
          </a:xfrm>
          <a:custGeom>
            <a:avLst/>
            <a:gdLst/>
            <a:ahLst/>
            <a:cxnLst/>
            <a:rect l="l" t="t" r="r" b="b"/>
            <a:pathLst>
              <a:path w="402336" h="40234">
                <a:moveTo>
                  <a:pt x="0" y="40234"/>
                </a:moveTo>
                <a:lnTo>
                  <a:pt x="73152" y="0"/>
                </a:lnTo>
                <a:lnTo>
                  <a:pt x="402336" y="0"/>
                </a:lnTo>
                <a:lnTo>
                  <a:pt x="329184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Freeform 380"/>
          <p:cNvSpPr/>
          <p:nvPr/>
        </p:nvSpPr>
        <p:spPr>
          <a:xfrm>
            <a:off x="7461504" y="5446166"/>
            <a:ext cx="73152" cy="460858"/>
          </a:xfrm>
          <a:custGeom>
            <a:avLst/>
            <a:gdLst/>
            <a:ahLst/>
            <a:cxnLst/>
            <a:rect l="l" t="t" r="r" b="b"/>
            <a:pathLst>
              <a:path w="73152" h="460858">
                <a:moveTo>
                  <a:pt x="0" y="40234"/>
                </a:moveTo>
                <a:lnTo>
                  <a:pt x="73152" y="0"/>
                </a:lnTo>
                <a:lnTo>
                  <a:pt x="73152" y="420624"/>
                </a:lnTo>
                <a:lnTo>
                  <a:pt x="0" y="460858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132320" y="5486400"/>
            <a:ext cx="329184" cy="420624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Freeform 382"/>
          <p:cNvSpPr/>
          <p:nvPr/>
        </p:nvSpPr>
        <p:spPr>
          <a:xfrm>
            <a:off x="7635240" y="5510174"/>
            <a:ext cx="347472" cy="40234"/>
          </a:xfrm>
          <a:custGeom>
            <a:avLst/>
            <a:gdLst/>
            <a:ahLst/>
            <a:cxnLst/>
            <a:rect l="l" t="t" r="r" b="b"/>
            <a:pathLst>
              <a:path w="347472" h="40234">
                <a:moveTo>
                  <a:pt x="0" y="40234"/>
                </a:moveTo>
                <a:lnTo>
                  <a:pt x="73152" y="0"/>
                </a:lnTo>
                <a:lnTo>
                  <a:pt x="347472" y="0"/>
                </a:lnTo>
                <a:lnTo>
                  <a:pt x="274320" y="40234"/>
                </a:lnTo>
                <a:close/>
              </a:path>
            </a:pathLst>
          </a:custGeom>
          <a:solidFill>
            <a:srgbClr val="B4D3F0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Freeform 383"/>
          <p:cNvSpPr/>
          <p:nvPr/>
        </p:nvSpPr>
        <p:spPr>
          <a:xfrm>
            <a:off x="7909560" y="5510174"/>
            <a:ext cx="73152" cy="387706"/>
          </a:xfrm>
          <a:custGeom>
            <a:avLst/>
            <a:gdLst/>
            <a:ahLst/>
            <a:cxnLst/>
            <a:rect l="l" t="t" r="r" b="b"/>
            <a:pathLst>
              <a:path w="73152" h="387706">
                <a:moveTo>
                  <a:pt x="0" y="40234"/>
                </a:moveTo>
                <a:lnTo>
                  <a:pt x="73152" y="0"/>
                </a:lnTo>
                <a:lnTo>
                  <a:pt x="73152" y="347472"/>
                </a:lnTo>
                <a:lnTo>
                  <a:pt x="0" y="387706"/>
                </a:lnTo>
                <a:close/>
              </a:path>
            </a:pathLst>
          </a:custGeom>
          <a:solidFill>
            <a:srgbClr val="96C2EA"/>
          </a:solidFill>
          <a:ln w="1016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635240" y="5550408"/>
            <a:ext cx="274320" cy="347472"/>
          </a:xfrm>
          <a:prstGeom prst="rect">
            <a:avLst/>
          </a:prstGeom>
          <a:solidFill>
            <a:srgbClr val="D2E5F7"/>
          </a:solidFill>
          <a:ln w="12700">
            <a:solidFill>
              <a:srgbClr val="4A9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5303520" y="527151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P2</a:t>
            </a:r>
          </a:p>
        </p:txBody>
      </p:sp>
      <p:cxnSp>
        <p:nvCxnSpPr>
          <p:cNvPr id="387" name="Connector 386"/>
          <p:cNvCxnSpPr/>
          <p:nvPr/>
        </p:nvCxnSpPr>
        <p:spPr>
          <a:xfrm flipH="1" flipV="1">
            <a:off x="6580388" y="554492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8" name="Oval 387"/>
          <p:cNvSpPr/>
          <p:nvPr/>
        </p:nvSpPr>
        <p:spPr>
          <a:xfrm>
            <a:off x="6556613" y="55211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Connector 388"/>
          <p:cNvCxnSpPr/>
          <p:nvPr/>
        </p:nvCxnSpPr>
        <p:spPr>
          <a:xfrm flipV="1">
            <a:off x="6699260" y="557235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Oval 389"/>
          <p:cNvSpPr/>
          <p:nvPr/>
        </p:nvSpPr>
        <p:spPr>
          <a:xfrm>
            <a:off x="6812645" y="554857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Connector 390"/>
          <p:cNvCxnSpPr/>
          <p:nvPr/>
        </p:nvCxnSpPr>
        <p:spPr>
          <a:xfrm>
            <a:off x="6699260" y="5654649"/>
            <a:ext cx="118872" cy="118872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2" name="Oval 391"/>
          <p:cNvSpPr/>
          <p:nvPr/>
        </p:nvSpPr>
        <p:spPr>
          <a:xfrm>
            <a:off x="6794357" y="574974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 flipH="1">
            <a:off x="6598676" y="5654649"/>
            <a:ext cx="100584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Oval 393"/>
          <p:cNvSpPr/>
          <p:nvPr/>
        </p:nvSpPr>
        <p:spPr>
          <a:xfrm>
            <a:off x="6574901" y="5740603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669999" y="562538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6" name="Connector 395"/>
          <p:cNvCxnSpPr/>
          <p:nvPr/>
        </p:nvCxnSpPr>
        <p:spPr>
          <a:xfrm>
            <a:off x="6710781" y="5966459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7" name="Oval 396"/>
          <p:cNvSpPr/>
          <p:nvPr/>
        </p:nvSpPr>
        <p:spPr>
          <a:xfrm>
            <a:off x="6685178" y="6091732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5870448" y="534466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P3</a:t>
            </a:r>
          </a:p>
        </p:txBody>
      </p:sp>
      <p:cxnSp>
        <p:nvCxnSpPr>
          <p:cNvPr id="399" name="Connector 398"/>
          <p:cNvCxnSpPr/>
          <p:nvPr/>
        </p:nvCxnSpPr>
        <p:spPr>
          <a:xfrm flipH="1" flipV="1">
            <a:off x="7151705" y="5578571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Oval 399"/>
          <p:cNvSpPr/>
          <p:nvPr/>
        </p:nvSpPr>
        <p:spPr>
          <a:xfrm>
            <a:off x="7127930" y="5554797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1" name="Connector 400"/>
          <p:cNvCxnSpPr/>
          <p:nvPr/>
        </p:nvCxnSpPr>
        <p:spPr>
          <a:xfrm flipV="1">
            <a:off x="7270577" y="5606003"/>
            <a:ext cx="137160" cy="82296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Oval 401"/>
          <p:cNvSpPr/>
          <p:nvPr/>
        </p:nvSpPr>
        <p:spPr>
          <a:xfrm>
            <a:off x="7383962" y="5582229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7241316" y="5659038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4" name="Connector 403"/>
          <p:cNvCxnSpPr/>
          <p:nvPr/>
        </p:nvCxnSpPr>
        <p:spPr>
          <a:xfrm>
            <a:off x="7280452" y="5957316"/>
            <a:ext cx="0" cy="123443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5" name="Oval 404"/>
          <p:cNvSpPr/>
          <p:nvPr/>
        </p:nvSpPr>
        <p:spPr>
          <a:xfrm>
            <a:off x="7254849" y="6082588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345936" y="540867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Arial"/>
              </a:rPr>
              <a:t>P4</a:t>
            </a:r>
          </a:p>
        </p:txBody>
      </p:sp>
      <p:cxnSp>
        <p:nvCxnSpPr>
          <p:cNvPr id="407" name="Connector 406"/>
          <p:cNvCxnSpPr/>
          <p:nvPr/>
        </p:nvCxnSpPr>
        <p:spPr>
          <a:xfrm flipH="1" flipV="1">
            <a:off x="7631582" y="5607466"/>
            <a:ext cx="118872" cy="109728"/>
          </a:xfrm>
          <a:prstGeom prst="line">
            <a:avLst/>
          </a:prstGeom>
          <a:ln w="6350">
            <a:solidFill>
              <a:srgbClr val="B0B0B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8" name="Oval 407"/>
          <p:cNvSpPr/>
          <p:nvPr/>
        </p:nvSpPr>
        <p:spPr>
          <a:xfrm>
            <a:off x="7607807" y="5583692"/>
            <a:ext cx="47548" cy="47548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7721193" y="5687933"/>
            <a:ext cx="58521" cy="58521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0" name="Connector 409"/>
          <p:cNvCxnSpPr/>
          <p:nvPr/>
        </p:nvCxnSpPr>
        <p:spPr>
          <a:xfrm>
            <a:off x="7758683" y="5948172"/>
            <a:ext cx="0" cy="123444"/>
          </a:xfrm>
          <a:prstGeom prst="line">
            <a:avLst/>
          </a:prstGeom>
          <a:ln w="8890">
            <a:solidFill>
              <a:srgbClr val="4A90D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" name="Oval 410"/>
          <p:cNvSpPr/>
          <p:nvPr/>
        </p:nvSpPr>
        <p:spPr>
          <a:xfrm>
            <a:off x="7733080" y="6073444"/>
            <a:ext cx="51206" cy="51206"/>
          </a:xfrm>
          <a:prstGeom prst="ellipse">
            <a:avLst/>
          </a:prstGeom>
          <a:solidFill>
            <a:srgbClr val="2E6FB7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2" name="Connector 411"/>
          <p:cNvCxnSpPr/>
          <p:nvPr/>
        </p:nvCxnSpPr>
        <p:spPr>
          <a:xfrm>
            <a:off x="6995160" y="5669280"/>
            <a:ext cx="109728" cy="18288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Connector 412"/>
          <p:cNvCxnSpPr/>
          <p:nvPr/>
        </p:nvCxnSpPr>
        <p:spPr>
          <a:xfrm>
            <a:off x="7534656" y="5715000"/>
            <a:ext cx="73152" cy="9144"/>
          </a:xfrm>
          <a:prstGeom prst="line">
            <a:avLst/>
          </a:prstGeom>
          <a:ln w="1397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Freeform 413"/>
          <p:cNvSpPr/>
          <p:nvPr/>
        </p:nvSpPr>
        <p:spPr>
          <a:xfrm>
            <a:off x="818387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Freeform 414"/>
          <p:cNvSpPr/>
          <p:nvPr/>
        </p:nvSpPr>
        <p:spPr>
          <a:xfrm>
            <a:off x="823417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818387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Freeform 416"/>
          <p:cNvSpPr/>
          <p:nvPr/>
        </p:nvSpPr>
        <p:spPr>
          <a:xfrm>
            <a:off x="825245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Freeform 417"/>
          <p:cNvSpPr/>
          <p:nvPr/>
        </p:nvSpPr>
        <p:spPr>
          <a:xfrm>
            <a:off x="830275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825245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Freeform 419"/>
          <p:cNvSpPr/>
          <p:nvPr/>
        </p:nvSpPr>
        <p:spPr>
          <a:xfrm>
            <a:off x="8321040" y="5425592"/>
            <a:ext cx="77723" cy="15088"/>
          </a:xfrm>
          <a:custGeom>
            <a:avLst/>
            <a:gdLst/>
            <a:ahLst/>
            <a:cxnLst/>
            <a:rect l="l" t="t" r="r" b="b"/>
            <a:pathLst>
              <a:path w="77723" h="15088">
                <a:moveTo>
                  <a:pt x="0" y="15088"/>
                </a:moveTo>
                <a:lnTo>
                  <a:pt x="27431" y="0"/>
                </a:lnTo>
                <a:lnTo>
                  <a:pt x="77723" y="0"/>
                </a:lnTo>
                <a:lnTo>
                  <a:pt x="50291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Freeform 420"/>
          <p:cNvSpPr/>
          <p:nvPr/>
        </p:nvSpPr>
        <p:spPr>
          <a:xfrm>
            <a:off x="837133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8321040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Freeform 422"/>
          <p:cNvSpPr/>
          <p:nvPr/>
        </p:nvSpPr>
        <p:spPr>
          <a:xfrm>
            <a:off x="8389619" y="5425592"/>
            <a:ext cx="77724" cy="15088"/>
          </a:xfrm>
          <a:custGeom>
            <a:avLst/>
            <a:gdLst/>
            <a:ahLst/>
            <a:cxnLst/>
            <a:rect l="l" t="t" r="r" b="b"/>
            <a:pathLst>
              <a:path w="77724" h="15088">
                <a:moveTo>
                  <a:pt x="0" y="15088"/>
                </a:moveTo>
                <a:lnTo>
                  <a:pt x="27432" y="0"/>
                </a:lnTo>
                <a:lnTo>
                  <a:pt x="77724" y="0"/>
                </a:lnTo>
                <a:lnTo>
                  <a:pt x="50292" y="15088"/>
                </a:lnTo>
                <a:close/>
              </a:path>
            </a:pathLst>
          </a:custGeom>
          <a:solidFill>
            <a:srgbClr val="C8B9E6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Freeform 423"/>
          <p:cNvSpPr/>
          <p:nvPr/>
        </p:nvSpPr>
        <p:spPr>
          <a:xfrm>
            <a:off x="8439911" y="5425592"/>
            <a:ext cx="27432" cy="472288"/>
          </a:xfrm>
          <a:custGeom>
            <a:avLst/>
            <a:gdLst/>
            <a:ahLst/>
            <a:cxnLst/>
            <a:rect l="l" t="t" r="r" b="b"/>
            <a:pathLst>
              <a:path w="27432" h="472288">
                <a:moveTo>
                  <a:pt x="0" y="15088"/>
                </a:moveTo>
                <a:lnTo>
                  <a:pt x="27432" y="0"/>
                </a:lnTo>
                <a:lnTo>
                  <a:pt x="27432" y="457200"/>
                </a:lnTo>
                <a:lnTo>
                  <a:pt x="0" y="472288"/>
                </a:lnTo>
                <a:close/>
              </a:path>
            </a:pathLst>
          </a:custGeom>
          <a:solidFill>
            <a:srgbClr val="B3A3DE"/>
          </a:solidFill>
          <a:ln w="8128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8389619" y="5440680"/>
            <a:ext cx="50292" cy="457200"/>
          </a:xfrm>
          <a:prstGeom prst="rect">
            <a:avLst/>
          </a:prstGeom>
          <a:solidFill>
            <a:srgbClr val="DCD3F0"/>
          </a:solidFill>
          <a:ln w="10160">
            <a:solidFill>
              <a:srgbClr val="8E7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604504" y="5394960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6B4FA0"/>
                </a:solidFill>
                <a:latin typeface="Arial"/>
              </a:rPr>
              <a:t>F</a:t>
            </a:r>
            <a:r>
              <a:rPr sz="1000" b="1" i="1" baseline="-25000">
                <a:solidFill>
                  <a:srgbClr val="6B4FA0"/>
                </a:solidFill>
                <a:latin typeface="Arial"/>
              </a:rPr>
              <a:t>S</a:t>
            </a:r>
          </a:p>
        </p:txBody>
      </p:sp>
      <p:cxnSp>
        <p:nvCxnSpPr>
          <p:cNvPr id="427" name="Connector 426"/>
          <p:cNvCxnSpPr/>
          <p:nvPr/>
        </p:nvCxnSpPr>
        <p:spPr>
          <a:xfrm flipV="1">
            <a:off x="5961888" y="5742432"/>
            <a:ext cx="539496" cy="54864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Connector 427"/>
          <p:cNvCxnSpPr/>
          <p:nvPr/>
        </p:nvCxnSpPr>
        <p:spPr>
          <a:xfrm>
            <a:off x="5321808" y="6035040"/>
            <a:ext cx="1353312" cy="0"/>
          </a:xfrm>
          <a:prstGeom prst="line">
            <a:avLst/>
          </a:prstGeom>
          <a:ln w="19050">
            <a:solidFill>
              <a:srgbClr val="4A90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 flipV="1">
            <a:off x="6675120" y="5952744"/>
            <a:ext cx="0" cy="82296"/>
          </a:xfrm>
          <a:prstGeom prst="line">
            <a:avLst/>
          </a:prstGeom>
          <a:ln w="1905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Freeform 429"/>
          <p:cNvSpPr/>
          <p:nvPr/>
        </p:nvSpPr>
        <p:spPr>
          <a:xfrm>
            <a:off x="8887968" y="5413248"/>
            <a:ext cx="640080" cy="822960"/>
          </a:xfrm>
          <a:custGeom>
            <a:avLst/>
            <a:gdLst/>
            <a:ahLst/>
            <a:cxnLst/>
            <a:rect l="l" t="t" r="r" b="b"/>
            <a:pathLst>
              <a:path w="640080" h="822960">
                <a:moveTo>
                  <a:pt x="0" y="0"/>
                </a:moveTo>
                <a:lnTo>
                  <a:pt x="640080" y="182880"/>
                </a:lnTo>
                <a:lnTo>
                  <a:pt x="640080" y="640080"/>
                </a:lnTo>
                <a:lnTo>
                  <a:pt x="0" y="822960"/>
                </a:lnTo>
                <a:close/>
              </a:path>
            </a:pathLst>
          </a:custGeom>
          <a:solidFill>
            <a:srgbClr val="DEE4EC"/>
          </a:solidFill>
          <a:ln w="1397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7699248" y="571500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Decoder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522208" y="5715000"/>
            <a:ext cx="347472" cy="45720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3" name="Picture 432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0928" y="5440680"/>
            <a:ext cx="566928" cy="566928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34" name="TextBox 433"/>
          <p:cNvSpPr txBox="1"/>
          <p:nvPr/>
        </p:nvSpPr>
        <p:spPr>
          <a:xfrm>
            <a:off x="8531352" y="5193792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Student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531352" y="534009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333333"/>
                </a:solidFill>
                <a:latin typeface="Arial"/>
              </a:rPr>
              <a:t>Prediction</a:t>
            </a:r>
          </a:p>
        </p:txBody>
      </p:sp>
      <p:cxnSp>
        <p:nvCxnSpPr>
          <p:cNvPr id="436" name="Connector 435"/>
          <p:cNvCxnSpPr/>
          <p:nvPr/>
        </p:nvCxnSpPr>
        <p:spPr>
          <a:xfrm flipV="1">
            <a:off x="9528048" y="5760720"/>
            <a:ext cx="164592" cy="64008"/>
          </a:xfrm>
          <a:prstGeom prst="line">
            <a:avLst/>
          </a:prstGeom>
          <a:ln w="16510">
            <a:solidFill>
              <a:srgbClr val="4A90D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Rounded Rectangle 436"/>
          <p:cNvSpPr/>
          <p:nvPr/>
        </p:nvSpPr>
        <p:spPr>
          <a:xfrm>
            <a:off x="10442448" y="4983480"/>
            <a:ext cx="1600200" cy="1188720"/>
          </a:xfrm>
          <a:prstGeom prst="roundRect">
            <a:avLst>
              <a:gd name="adj" fmla="val 4615"/>
            </a:avLst>
          </a:prstGeom>
          <a:noFill/>
          <a:ln w="12700">
            <a:solidFill>
              <a:srgbClr val="D98A9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TextBox 437"/>
          <p:cNvSpPr txBox="1"/>
          <p:nvPr/>
        </p:nvSpPr>
        <p:spPr>
          <a:xfrm>
            <a:off x="9774936" y="5047488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Training Supervision (Student)</a:t>
            </a:r>
          </a:p>
        </p:txBody>
      </p:sp>
      <p:pic>
        <p:nvPicPr>
          <p:cNvPr id="439" name="Picture 438" descr="pred_teach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0" y="5321808"/>
            <a:ext cx="457200" cy="457200"/>
          </a:xfrm>
          <a:prstGeom prst="rect">
            <a:avLst/>
          </a:prstGeom>
          <a:ln w="9525">
            <a:solidFill>
              <a:srgbClr val="333333"/>
            </a:solidFill>
          </a:ln>
        </p:spPr>
      </p:pic>
      <p:sp>
        <p:nvSpPr>
          <p:cNvPr id="440" name="TextBox 439"/>
          <p:cNvSpPr txBox="1"/>
          <p:nvPr/>
        </p:nvSpPr>
        <p:spPr>
          <a:xfrm>
            <a:off x="9738360" y="5212080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44E62"/>
                </a:solidFill>
                <a:latin typeface="Arial"/>
              </a:rPr>
              <a:t>GT</a:t>
            </a:r>
          </a:p>
        </p:txBody>
      </p:sp>
      <p:sp>
        <p:nvSpPr>
          <p:cNvPr id="441" name="Rounded Rectangle 440"/>
          <p:cNvSpPr/>
          <p:nvPr/>
        </p:nvSpPr>
        <p:spPr>
          <a:xfrm>
            <a:off x="10716768" y="5870448"/>
            <a:ext cx="1051560" cy="256032"/>
          </a:xfrm>
          <a:prstGeom prst="roundRect">
            <a:avLst>
              <a:gd name="adj" fmla="val 28571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9774936" y="5934456"/>
            <a:ext cx="292608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50" b="1" i="0">
                <a:solidFill>
                  <a:srgbClr val="C44E62"/>
                </a:solidFill>
                <a:latin typeface="Arial"/>
              </a:rPr>
              <a:t>Seg. Loss</a:t>
            </a:r>
          </a:p>
        </p:txBody>
      </p:sp>
      <p:cxnSp>
        <p:nvCxnSpPr>
          <p:cNvPr id="443" name="Connector 442"/>
          <p:cNvCxnSpPr/>
          <p:nvPr/>
        </p:nvCxnSpPr>
        <p:spPr>
          <a:xfrm flipV="1">
            <a:off x="10296144" y="5596128"/>
            <a:ext cx="640080" cy="128016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11201400" y="5797296"/>
            <a:ext cx="27432" cy="54864"/>
          </a:xfrm>
          <a:prstGeom prst="line">
            <a:avLst/>
          </a:prstGeom>
          <a:ln w="12700">
            <a:solidFill>
              <a:srgbClr val="C44E6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5" name="Rounded Rectangle 444"/>
          <p:cNvSpPr/>
          <p:nvPr/>
        </p:nvSpPr>
        <p:spPr>
          <a:xfrm>
            <a:off x="9646920" y="6309360"/>
            <a:ext cx="2395728" cy="329184"/>
          </a:xfrm>
          <a:prstGeom prst="roundRect">
            <a:avLst>
              <a:gd name="adj" fmla="val 22222"/>
            </a:avLst>
          </a:prstGeom>
          <a:solidFill>
            <a:srgbClr val="F9E3E7"/>
          </a:solidFill>
          <a:ln w="12700">
            <a:solidFill>
              <a:srgbClr val="D98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9381744" y="6199632"/>
            <a:ext cx="292608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333333"/>
                </a:solidFill>
                <a:latin typeface="Arial"/>
              </a:rPr>
              <a:t>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=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seg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λ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KD</a:t>
            </a:r>
            <a:r>
              <a:rPr sz="1000" b="0" i="1">
                <a:solidFill>
                  <a:srgbClr val="333333"/>
                </a:solidFill>
                <a:latin typeface="Arial"/>
              </a:rPr>
              <a:t>(0.5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policy</a:t>
            </a:r>
            <a:r>
              <a:rPr sz="1000" b="0" i="1">
                <a:solidFill>
                  <a:srgbClr val="333333"/>
                </a:solidFill>
                <a:latin typeface="Arial"/>
              </a:rPr>
              <a:t> + 0.5 L</a:t>
            </a:r>
            <a:r>
              <a:rPr sz="1000" b="0" i="0" baseline="-25000">
                <a:solidFill>
                  <a:srgbClr val="333333"/>
                </a:solidFill>
                <a:latin typeface="Arial"/>
              </a:rPr>
              <a:t>evidence</a:t>
            </a:r>
            <a:r>
              <a:rPr sz="1000" b="0" i="0">
                <a:solidFill>
                  <a:srgbClr val="333333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