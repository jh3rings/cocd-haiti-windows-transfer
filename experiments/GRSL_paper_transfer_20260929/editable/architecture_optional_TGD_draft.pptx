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502920"/>
            <a:ext cx="12006072" cy="384048"/>
          </a:xfrm>
          <a:prstGeom prst="rect">
            <a:avLst/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576072"/>
            <a:ext cx="68580" cy="237744"/>
          </a:xfrm>
          <a:prstGeom prst="rect">
            <a:avLst/>
          </a:prstGeom>
          <a:solidFill>
            <a:srgbClr val="2F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8328" y="4206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Arial"/>
              </a:rPr>
              <a:t>Teacher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4206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7A9CC6"/>
                </a:solidFill>
                <a:latin typeface="Arial"/>
              </a:rPr>
              <a:t>(dual-orbit training)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1005840"/>
            <a:ext cx="2139696" cy="914400"/>
          </a:xfrm>
          <a:prstGeom prst="roundRect">
            <a:avLst>
              <a:gd name="adj" fmla="val 8000"/>
            </a:avLst>
          </a:prstGeom>
          <a:solidFill>
            <a:srgbClr val="F1F5EA"/>
          </a:solidFill>
          <a:ln w="12700">
            <a:solidFill>
              <a:srgbClr val="CBD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" y="128016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Counter orbit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" y="148132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(DESC)</a:t>
            </a:r>
          </a:p>
        </p:txBody>
      </p:sp>
      <p:pic>
        <p:nvPicPr>
          <p:cNvPr id="9" name="Picture 8" descr="c_vv_p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5" y="106070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0" name="Picture 9" descr="c_vh_p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9728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1" name="Picture 10" descr="c_vv_p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113385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2" name="Picture 11" descr="c_vh_p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17043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3" name="Picture 12" descr="c_vv_p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0700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4" name="Picture 13" descr="c_vv_p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106070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5" name="Picture 14" descr="c_vh_po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09728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6" name="Picture 15" descr="c_vv_p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224" y="113385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7" name="Picture 16" descr="c_vh_po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648" y="117043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8" name="Picture 17" descr="c_vv_p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120700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-192024" y="15727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15727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338328" y="170078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64008" y="170078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1" y="170078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170078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137160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  <a:latin typeface="Arial"/>
              </a:rPr>
              <a:t>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" y="1938528"/>
            <a:ext cx="2139696" cy="9144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12700">
            <a:solidFill>
              <a:srgbClr val="C2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" y="221284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Target orbit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" y="241401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(ASC)</a:t>
            </a:r>
          </a:p>
        </p:txBody>
      </p:sp>
      <p:pic>
        <p:nvPicPr>
          <p:cNvPr id="29" name="Picture 28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575" y="199339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" name="Picture 29" descr="t_vh_p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202996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1" name="Picture 30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206654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2" name="Picture 31" descr="t_vh_p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210312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3" name="Picture 32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1" y="213969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4" name="Picture 33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5376" y="199339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5" name="Picture 34" descr="t_vh_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202996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6" name="Picture 35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2224" y="206654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7" name="Picture 36" descr="t_vh_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5648" y="210312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8" name="Picture 37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9072" y="213969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-192024" y="250545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" y="250545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-338328" y="26334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64008" y="26334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1" y="26334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26334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" y="230428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  <a:latin typeface="Arial"/>
              </a:rPr>
              <a:t>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8620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08080"/>
                </a:solidFill>
                <a:latin typeface="Arial"/>
              </a:rPr>
              <a:t>5-channel SAR input</a:t>
            </a:r>
          </a:p>
        </p:txBody>
      </p:sp>
      <p:sp>
        <p:nvSpPr>
          <p:cNvPr id="47" name="Freeform 46"/>
          <p:cNvSpPr/>
          <p:nvPr/>
        </p:nvSpPr>
        <p:spPr>
          <a:xfrm>
            <a:off x="2395728" y="1115568"/>
            <a:ext cx="850392" cy="676656"/>
          </a:xfrm>
          <a:custGeom>
            <a:avLst/>
            <a:gdLst/>
            <a:ahLst/>
            <a:cxnLst/>
            <a:rect l="l" t="t" r="r" b="b"/>
            <a:pathLst>
              <a:path w="850392" h="676656">
                <a:moveTo>
                  <a:pt x="0" y="0"/>
                </a:moveTo>
                <a:lnTo>
                  <a:pt x="850392" y="128016"/>
                </a:lnTo>
                <a:lnTo>
                  <a:pt x="850392" y="548639"/>
                </a:lnTo>
                <a:lnTo>
                  <a:pt x="0" y="676656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35024" y="131673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ConvNeXt-Tiny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35024" y="146304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+ FPN</a:t>
            </a:r>
          </a:p>
        </p:txBody>
      </p:sp>
      <p:sp>
        <p:nvSpPr>
          <p:cNvPr id="50" name="Freeform 49"/>
          <p:cNvSpPr/>
          <p:nvPr/>
        </p:nvSpPr>
        <p:spPr>
          <a:xfrm>
            <a:off x="2395728" y="2121408"/>
            <a:ext cx="850392" cy="676655"/>
          </a:xfrm>
          <a:custGeom>
            <a:avLst/>
            <a:gdLst/>
            <a:ahLst/>
            <a:cxnLst/>
            <a:rect l="l" t="t" r="r" b="b"/>
            <a:pathLst>
              <a:path w="850392" h="676655">
                <a:moveTo>
                  <a:pt x="0" y="0"/>
                </a:moveTo>
                <a:lnTo>
                  <a:pt x="850392" y="128016"/>
                </a:lnTo>
                <a:lnTo>
                  <a:pt x="850392" y="548640"/>
                </a:lnTo>
                <a:lnTo>
                  <a:pt x="0" y="676655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35024" y="232257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ConvNeXt-Tiny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35024" y="2468879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+ FPN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322576" y="1435608"/>
            <a:ext cx="54864" cy="0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322576" y="2395728"/>
            <a:ext cx="54864" cy="0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3520440" y="12499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639312" y="12499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20440" y="1280160"/>
            <a:ext cx="118872" cy="566928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3671315" y="12499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790187" y="12499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71315" y="1280160"/>
            <a:ext cx="118872" cy="566928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822191" y="12499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941063" y="12499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22191" y="1280160"/>
            <a:ext cx="118872" cy="566928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233672" y="13780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4352544" y="13780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33672" y="1408176"/>
            <a:ext cx="118872" cy="438912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4384548" y="13780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4503420" y="13780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84548" y="1408176"/>
            <a:ext cx="118872" cy="438912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4535424" y="13780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4654296" y="13780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35424" y="1408176"/>
            <a:ext cx="118872" cy="438912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4837176" y="15060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4956048" y="15060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837176" y="1536192"/>
            <a:ext cx="118872" cy="310896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4988052" y="15060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5106924" y="15060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988052" y="1536192"/>
            <a:ext cx="118872" cy="310896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5138928" y="15060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5257800" y="15060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138928" y="1536192"/>
            <a:ext cx="118872" cy="310896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85999" y="19019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99232" y="19019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02736" y="19019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005072" y="1563624"/>
            <a:ext cx="192024" cy="64008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718304" y="1627632"/>
            <a:ext cx="100584" cy="64008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 86"/>
          <p:cNvSpPr/>
          <p:nvPr/>
        </p:nvSpPr>
        <p:spPr>
          <a:xfrm>
            <a:off x="3520440" y="21643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3639312" y="21643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520440" y="2194560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3671315" y="21643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790187" y="21643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671315" y="2194560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3822191" y="21643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3941063" y="21643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822191" y="2194560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233672" y="22924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4352544" y="22924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233672" y="2322576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4384548" y="22924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503420" y="22924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384548" y="2322576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4535424" y="22924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4654296" y="22924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535424" y="2322576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4837176" y="24204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4956048" y="24204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837176" y="2450592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4988052" y="24204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5106924" y="24204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988052" y="2450592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138928" y="24204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5257800" y="24204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138928" y="2450592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285999" y="28163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99232" y="28163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602736" y="28163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005072" y="2478024"/>
            <a:ext cx="192024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718304" y="2542032"/>
            <a:ext cx="100584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291840" y="1463040"/>
            <a:ext cx="192024" cy="109728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291840" y="2432304"/>
            <a:ext cx="192024" cy="54864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5440680" y="1005840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EDF5E4"/>
          </a:solidFill>
          <a:ln w="1524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498848" y="113385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Counter-guided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498848" y="131673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Policy</a:t>
            </a:r>
          </a:p>
        </p:txBody>
      </p:sp>
      <p:sp>
        <p:nvSpPr>
          <p:cNvPr id="124" name="Freeform 123"/>
          <p:cNvSpPr/>
          <p:nvPr/>
        </p:nvSpPr>
        <p:spPr>
          <a:xfrm>
            <a:off x="5486400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550408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486400" y="1755648"/>
            <a:ext cx="64008" cy="411480"/>
          </a:xfrm>
          <a:prstGeom prst="rect">
            <a:avLst/>
          </a:prstGeom>
          <a:solidFill>
            <a:srgbClr val="E4B87F"/>
          </a:solidFill>
          <a:ln w="10160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573268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5637276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573268" y="1755648"/>
            <a:ext cx="64008" cy="411480"/>
          </a:xfrm>
          <a:prstGeom prst="rect">
            <a:avLst/>
          </a:prstGeom>
          <a:solidFill>
            <a:srgbClr val="C5B3E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660136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9FC0E8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724144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9FC0E8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660136" y="1755648"/>
            <a:ext cx="64008" cy="411480"/>
          </a:xfrm>
          <a:prstGeom prst="rect">
            <a:avLst/>
          </a:prstGeom>
          <a:solidFill>
            <a:srgbClr val="9FC0E8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5747004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811012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747004" y="1755648"/>
            <a:ext cx="64008" cy="411480"/>
          </a:xfrm>
          <a:prstGeom prst="rect">
            <a:avLst/>
          </a:prstGeom>
          <a:solidFill>
            <a:srgbClr val="C5B3E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5833872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5897880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833872" y="1755648"/>
            <a:ext cx="64008" cy="411480"/>
          </a:xfrm>
          <a:prstGeom prst="rect">
            <a:avLst/>
          </a:prstGeom>
          <a:solidFill>
            <a:srgbClr val="E4B87F"/>
          </a:solidFill>
          <a:ln w="10160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5321808" y="1691640"/>
            <a:ext cx="256032" cy="0"/>
          </a:xfrm>
          <a:prstGeom prst="line">
            <a:avLst/>
          </a:prstGeom>
          <a:ln w="16510">
            <a:solidFill>
              <a:srgbClr val="6E9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5577840" y="1554480"/>
            <a:ext cx="0" cy="137160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>
            <a:off x="5724144" y="1554480"/>
            <a:ext cx="36576" cy="164592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/>
          <p:cNvSpPr/>
          <p:nvPr/>
        </p:nvSpPr>
        <p:spPr>
          <a:xfrm>
            <a:off x="6355080" y="1188720"/>
            <a:ext cx="2377440" cy="1554480"/>
          </a:xfrm>
          <a:prstGeom prst="roundRect">
            <a:avLst>
              <a:gd name="adj" fmla="val 3529"/>
            </a:avLst>
          </a:prstGeom>
          <a:noFill/>
          <a:ln w="12700">
            <a:solidFill>
              <a:srgbClr val="7E6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080760" y="126644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Adaptive Search (Teacher)</a:t>
            </a:r>
          </a:p>
        </p:txBody>
      </p:sp>
      <p:sp>
        <p:nvSpPr>
          <p:cNvPr id="144" name="Freeform 143"/>
          <p:cNvSpPr/>
          <p:nvPr/>
        </p:nvSpPr>
        <p:spPr>
          <a:xfrm>
            <a:off x="6537960" y="1532534"/>
            <a:ext cx="457200" cy="40234"/>
          </a:xfrm>
          <a:custGeom>
            <a:avLst/>
            <a:gdLst/>
            <a:ahLst/>
            <a:cxnLst/>
            <a:rect l="l" t="t" r="r" b="b"/>
            <a:pathLst>
              <a:path w="457200" h="40234">
                <a:moveTo>
                  <a:pt x="0" y="40234"/>
                </a:moveTo>
                <a:lnTo>
                  <a:pt x="73152" y="0"/>
                </a:lnTo>
                <a:lnTo>
                  <a:pt x="457200" y="0"/>
                </a:lnTo>
                <a:lnTo>
                  <a:pt x="384048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6922008" y="1532534"/>
            <a:ext cx="73152" cy="543154"/>
          </a:xfrm>
          <a:custGeom>
            <a:avLst/>
            <a:gdLst/>
            <a:ahLst/>
            <a:cxnLst/>
            <a:rect l="l" t="t" r="r" b="b"/>
            <a:pathLst>
              <a:path w="73152" h="543154">
                <a:moveTo>
                  <a:pt x="0" y="40234"/>
                </a:moveTo>
                <a:lnTo>
                  <a:pt x="73152" y="0"/>
                </a:lnTo>
                <a:lnTo>
                  <a:pt x="73152" y="502920"/>
                </a:lnTo>
                <a:lnTo>
                  <a:pt x="0" y="54315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537960" y="1572768"/>
            <a:ext cx="384048" cy="502920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7132320" y="1605686"/>
            <a:ext cx="402336" cy="40234"/>
          </a:xfrm>
          <a:custGeom>
            <a:avLst/>
            <a:gdLst/>
            <a:ahLst/>
            <a:cxnLst/>
            <a:rect l="l" t="t" r="r" b="b"/>
            <a:pathLst>
              <a:path w="402336" h="40234">
                <a:moveTo>
                  <a:pt x="0" y="40234"/>
                </a:moveTo>
                <a:lnTo>
                  <a:pt x="73152" y="0"/>
                </a:lnTo>
                <a:lnTo>
                  <a:pt x="402336" y="0"/>
                </a:lnTo>
                <a:lnTo>
                  <a:pt x="329184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7461504" y="1605686"/>
            <a:ext cx="73152" cy="460858"/>
          </a:xfrm>
          <a:custGeom>
            <a:avLst/>
            <a:gdLst/>
            <a:ahLst/>
            <a:cxnLst/>
            <a:rect l="l" t="t" r="r" b="b"/>
            <a:pathLst>
              <a:path w="73152" h="460858">
                <a:moveTo>
                  <a:pt x="0" y="40234"/>
                </a:moveTo>
                <a:lnTo>
                  <a:pt x="73152" y="0"/>
                </a:lnTo>
                <a:lnTo>
                  <a:pt x="73152" y="420624"/>
                </a:lnTo>
                <a:lnTo>
                  <a:pt x="0" y="46085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132320" y="1645920"/>
            <a:ext cx="329184" cy="420624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7635240" y="1669694"/>
            <a:ext cx="347472" cy="40234"/>
          </a:xfrm>
          <a:custGeom>
            <a:avLst/>
            <a:gdLst/>
            <a:ahLst/>
            <a:cxnLst/>
            <a:rect l="l" t="t" r="r" b="b"/>
            <a:pathLst>
              <a:path w="347472" h="40234">
                <a:moveTo>
                  <a:pt x="0" y="40234"/>
                </a:moveTo>
                <a:lnTo>
                  <a:pt x="73152" y="0"/>
                </a:lnTo>
                <a:lnTo>
                  <a:pt x="347472" y="0"/>
                </a:lnTo>
                <a:lnTo>
                  <a:pt x="274320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7909560" y="1669694"/>
            <a:ext cx="73152" cy="387706"/>
          </a:xfrm>
          <a:custGeom>
            <a:avLst/>
            <a:gdLst/>
            <a:ahLst/>
            <a:cxnLst/>
            <a:rect l="l" t="t" r="r" b="b"/>
            <a:pathLst>
              <a:path w="73152" h="387706">
                <a:moveTo>
                  <a:pt x="0" y="40234"/>
                </a:moveTo>
                <a:lnTo>
                  <a:pt x="73152" y="0"/>
                </a:lnTo>
                <a:lnTo>
                  <a:pt x="73152" y="347472"/>
                </a:lnTo>
                <a:lnTo>
                  <a:pt x="0" y="387706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635240" y="1709928"/>
            <a:ext cx="274320" cy="34747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303520" y="143103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cxnSp>
        <p:nvCxnSpPr>
          <p:cNvPr id="154" name="Connector 153"/>
          <p:cNvCxnSpPr/>
          <p:nvPr/>
        </p:nvCxnSpPr>
        <p:spPr>
          <a:xfrm flipH="1" flipV="1">
            <a:off x="6580388" y="1704441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/>
          <p:cNvSpPr/>
          <p:nvPr/>
        </p:nvSpPr>
        <p:spPr>
          <a:xfrm>
            <a:off x="6556613" y="168066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 flipV="1">
            <a:off x="6699260" y="1731873"/>
            <a:ext cx="137160" cy="82296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6812645" y="1708099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>
            <a:off x="6699260" y="1814169"/>
            <a:ext cx="118872" cy="118872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6794357" y="190926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 flipH="1">
            <a:off x="6598676" y="1814169"/>
            <a:ext cx="100584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Oval 160"/>
          <p:cNvSpPr/>
          <p:nvPr/>
        </p:nvSpPr>
        <p:spPr>
          <a:xfrm>
            <a:off x="6574901" y="1900123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669999" y="1784908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>
            <a:off x="6710781" y="2125980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/>
          <p:cNvSpPr/>
          <p:nvPr/>
        </p:nvSpPr>
        <p:spPr>
          <a:xfrm>
            <a:off x="6685178" y="2251252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870448" y="150418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cxnSp>
        <p:nvCxnSpPr>
          <p:cNvPr id="166" name="Connector 165"/>
          <p:cNvCxnSpPr/>
          <p:nvPr/>
        </p:nvCxnSpPr>
        <p:spPr>
          <a:xfrm flipH="1" flipV="1">
            <a:off x="7151705" y="1738091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Oval 166"/>
          <p:cNvSpPr/>
          <p:nvPr/>
        </p:nvSpPr>
        <p:spPr>
          <a:xfrm>
            <a:off x="7127930" y="171431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 flipV="1">
            <a:off x="7270577" y="1765523"/>
            <a:ext cx="137160" cy="82296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Oval 168"/>
          <p:cNvSpPr/>
          <p:nvPr/>
        </p:nvSpPr>
        <p:spPr>
          <a:xfrm>
            <a:off x="7383962" y="1741749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241316" y="1818558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>
            <a:off x="7280452" y="2116836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Oval 171"/>
          <p:cNvSpPr/>
          <p:nvPr/>
        </p:nvSpPr>
        <p:spPr>
          <a:xfrm>
            <a:off x="7254849" y="2242108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345936" y="1568195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174" name="Connector 173"/>
          <p:cNvCxnSpPr/>
          <p:nvPr/>
        </p:nvCxnSpPr>
        <p:spPr>
          <a:xfrm flipH="1" flipV="1">
            <a:off x="7631582" y="1766986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Oval 174"/>
          <p:cNvSpPr/>
          <p:nvPr/>
        </p:nvSpPr>
        <p:spPr>
          <a:xfrm>
            <a:off x="7607807" y="1743212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721193" y="1847453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>
            <a:off x="7758683" y="2107692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Oval 177"/>
          <p:cNvSpPr/>
          <p:nvPr/>
        </p:nvSpPr>
        <p:spPr>
          <a:xfrm>
            <a:off x="7733080" y="2232964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9" name="Connector 178"/>
          <p:cNvCxnSpPr/>
          <p:nvPr/>
        </p:nvCxnSpPr>
        <p:spPr>
          <a:xfrm>
            <a:off x="6995160" y="1828800"/>
            <a:ext cx="109728" cy="18288"/>
          </a:xfrm>
          <a:prstGeom prst="line">
            <a:avLst/>
          </a:prstGeom>
          <a:ln w="1397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7534656" y="1874519"/>
            <a:ext cx="73152" cy="9145"/>
          </a:xfrm>
          <a:prstGeom prst="line">
            <a:avLst/>
          </a:prstGeom>
          <a:ln w="1397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Freeform 180"/>
          <p:cNvSpPr/>
          <p:nvPr/>
        </p:nvSpPr>
        <p:spPr>
          <a:xfrm>
            <a:off x="8183879" y="158511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8234171" y="158511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83879" y="160020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8252459" y="158511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8302751" y="158511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252459" y="160020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8321040" y="1585112"/>
            <a:ext cx="77723" cy="15088"/>
          </a:xfrm>
          <a:custGeom>
            <a:avLst/>
            <a:gdLst/>
            <a:ahLst/>
            <a:cxnLst/>
            <a:rect l="l" t="t" r="r" b="b"/>
            <a:pathLst>
              <a:path w="77723" h="15088">
                <a:moveTo>
                  <a:pt x="0" y="15088"/>
                </a:moveTo>
                <a:lnTo>
                  <a:pt x="27431" y="0"/>
                </a:lnTo>
                <a:lnTo>
                  <a:pt x="77723" y="0"/>
                </a:lnTo>
                <a:lnTo>
                  <a:pt x="50291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8371331" y="158511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321040" y="160020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8389619" y="158511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8439911" y="158511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389619" y="160020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604504" y="1554480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 i="1">
                <a:solidFill>
                  <a:srgbClr val="6B4FA0"/>
                </a:solidFill>
                <a:latin typeface="Arial"/>
              </a:rPr>
              <a:t>F</a:t>
            </a:r>
            <a:r>
              <a:rPr sz="1000" b="1" i="1" baseline="-25000">
                <a:solidFill>
                  <a:srgbClr val="6B4FA0"/>
                </a:solidFill>
                <a:latin typeface="Arial"/>
              </a:rPr>
              <a:t>T</a:t>
            </a:r>
          </a:p>
        </p:txBody>
      </p:sp>
      <p:cxnSp>
        <p:nvCxnSpPr>
          <p:cNvPr id="194" name="Connector 193"/>
          <p:cNvCxnSpPr/>
          <p:nvPr/>
        </p:nvCxnSpPr>
        <p:spPr>
          <a:xfrm flipV="1">
            <a:off x="5961888" y="1883664"/>
            <a:ext cx="539496" cy="54864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5321808" y="2651760"/>
            <a:ext cx="1353312" cy="0"/>
          </a:xfrm>
          <a:prstGeom prst="line">
            <a:avLst/>
          </a:prstGeom>
          <a:ln w="1905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6675120" y="2112264"/>
            <a:ext cx="0" cy="539496"/>
          </a:xfrm>
          <a:prstGeom prst="line">
            <a:avLst/>
          </a:prstGeom>
          <a:ln w="1905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Freeform 196"/>
          <p:cNvSpPr/>
          <p:nvPr/>
        </p:nvSpPr>
        <p:spPr>
          <a:xfrm>
            <a:off x="8887968" y="1554480"/>
            <a:ext cx="640080" cy="960120"/>
          </a:xfrm>
          <a:custGeom>
            <a:avLst/>
            <a:gdLst/>
            <a:ahLst/>
            <a:cxnLst/>
            <a:rect l="l" t="t" r="r" b="b"/>
            <a:pathLst>
              <a:path w="640080" h="960120">
                <a:moveTo>
                  <a:pt x="0" y="0"/>
                </a:moveTo>
                <a:lnTo>
                  <a:pt x="640080" y="182880"/>
                </a:lnTo>
                <a:lnTo>
                  <a:pt x="640080" y="777240"/>
                </a:lnTo>
                <a:lnTo>
                  <a:pt x="0" y="960120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699248" y="192024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Decoder</a:t>
            </a:r>
          </a:p>
        </p:txBody>
      </p:sp>
      <p:cxnSp>
        <p:nvCxnSpPr>
          <p:cNvPr id="199" name="Connector 198"/>
          <p:cNvCxnSpPr/>
          <p:nvPr/>
        </p:nvCxnSpPr>
        <p:spPr>
          <a:xfrm>
            <a:off x="8522208" y="1874519"/>
            <a:ext cx="347472" cy="64009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0" name="Picture 199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0928" y="1554480"/>
            <a:ext cx="566928" cy="566928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201" name="TextBox 200"/>
          <p:cNvSpPr txBox="1"/>
          <p:nvPr/>
        </p:nvSpPr>
        <p:spPr>
          <a:xfrm>
            <a:off x="8531352" y="128016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Teacher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531352" y="142646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Prediction</a:t>
            </a:r>
          </a:p>
        </p:txBody>
      </p:sp>
      <p:cxnSp>
        <p:nvCxnSpPr>
          <p:cNvPr id="203" name="Connector 202"/>
          <p:cNvCxnSpPr/>
          <p:nvPr/>
        </p:nvCxnSpPr>
        <p:spPr>
          <a:xfrm flipV="1">
            <a:off x="9528048" y="1901952"/>
            <a:ext cx="164592" cy="128016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Rounded Rectangle 203"/>
          <p:cNvSpPr/>
          <p:nvPr/>
        </p:nvSpPr>
        <p:spPr>
          <a:xfrm>
            <a:off x="10442448" y="1005840"/>
            <a:ext cx="1600200" cy="1828800"/>
          </a:xfrm>
          <a:prstGeom prst="roundRect">
            <a:avLst>
              <a:gd name="adj" fmla="val 3428"/>
            </a:avLst>
          </a:prstGeom>
          <a:noFill/>
          <a:ln w="12700">
            <a:solidFill>
              <a:srgbClr val="D98A9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774936" y="106984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Teacher supervision</a:t>
            </a:r>
          </a:p>
        </p:txBody>
      </p:sp>
      <p:pic>
        <p:nvPicPr>
          <p:cNvPr id="206" name="Picture 205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25328" y="1417320"/>
            <a:ext cx="502920" cy="50292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207" name="TextBox 206"/>
          <p:cNvSpPr txBox="1"/>
          <p:nvPr/>
        </p:nvSpPr>
        <p:spPr>
          <a:xfrm>
            <a:off x="9409176" y="129844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GT</a:t>
            </a:r>
          </a:p>
        </p:txBody>
      </p:sp>
      <p:pic>
        <p:nvPicPr>
          <p:cNvPr id="208" name="Picture 207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56848" y="1417320"/>
            <a:ext cx="502920" cy="50292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209" name="TextBox 208"/>
          <p:cNvSpPr txBox="1"/>
          <p:nvPr/>
        </p:nvSpPr>
        <p:spPr>
          <a:xfrm>
            <a:off x="10140696" y="129844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TGD (optional)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10625328" y="239572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F9E3E7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774936" y="24871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C44E62"/>
                </a:solidFill>
                <a:latin typeface="Arial"/>
              </a:rPr>
              <a:t>Seg. loss + optional TGD</a:t>
            </a:r>
          </a:p>
        </p:txBody>
      </p:sp>
      <p:cxnSp>
        <p:nvCxnSpPr>
          <p:cNvPr id="212" name="Connector 211"/>
          <p:cNvCxnSpPr/>
          <p:nvPr/>
        </p:nvCxnSpPr>
        <p:spPr>
          <a:xfrm flipV="1">
            <a:off x="10296144" y="1719072"/>
            <a:ext cx="292608" cy="118871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872216" y="1938528"/>
            <a:ext cx="118872" cy="420624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H="1">
            <a:off x="11484864" y="1938528"/>
            <a:ext cx="118872" cy="420624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Rounded Rectangle 214"/>
          <p:cNvSpPr/>
          <p:nvPr/>
        </p:nvSpPr>
        <p:spPr>
          <a:xfrm>
            <a:off x="5120640" y="2898648"/>
            <a:ext cx="4892040" cy="1481328"/>
          </a:xfrm>
          <a:prstGeom prst="roundRect">
            <a:avLst>
              <a:gd name="adj" fmla="val 3703"/>
            </a:avLst>
          </a:prstGeom>
          <a:solidFill>
            <a:srgbClr val="FBFAFE"/>
          </a:solidFill>
          <a:ln w="13970">
            <a:solidFill>
              <a:srgbClr val="9B7B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099048" y="296722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7B5EA7"/>
                </a:solidFill>
                <a:latin typeface="Arial"/>
              </a:rPr>
              <a:t>Knowledge Distillation (training only)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5705856" y="2194560"/>
            <a:ext cx="0" cy="2816352"/>
          </a:xfrm>
          <a:prstGeom prst="line">
            <a:avLst/>
          </a:prstGeom>
          <a:ln w="15240">
            <a:solidFill>
              <a:srgbClr val="CD5C5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Rounded Rectangle 217"/>
          <p:cNvSpPr/>
          <p:nvPr/>
        </p:nvSpPr>
        <p:spPr>
          <a:xfrm>
            <a:off x="5897880" y="3246120"/>
            <a:ext cx="914400" cy="329184"/>
          </a:xfrm>
          <a:prstGeom prst="roundRect">
            <a:avLst>
              <a:gd name="adj" fmla="val 27777"/>
            </a:avLst>
          </a:prstGeom>
          <a:solidFill>
            <a:srgbClr val="F6DEE3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892040" y="333298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C44E62"/>
                </a:solidFill>
                <a:latin typeface="Arial"/>
              </a:rPr>
              <a:t>Policy KD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5897880" y="3886200"/>
            <a:ext cx="914400" cy="329184"/>
          </a:xfrm>
          <a:prstGeom prst="roundRect">
            <a:avLst>
              <a:gd name="adj" fmla="val 27777"/>
            </a:avLst>
          </a:prstGeom>
          <a:solidFill>
            <a:srgbClr val="F6DEE3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892040" y="39730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C44E62"/>
                </a:solidFill>
                <a:latin typeface="Arial"/>
              </a:rPr>
              <a:t>Evidence KD</a:t>
            </a:r>
          </a:p>
        </p:txBody>
      </p:sp>
      <p:cxnSp>
        <p:nvCxnSpPr>
          <p:cNvPr id="222" name="Connector 221"/>
          <p:cNvCxnSpPr/>
          <p:nvPr/>
        </p:nvCxnSpPr>
        <p:spPr>
          <a:xfrm>
            <a:off x="5705856" y="3410712"/>
            <a:ext cx="173736" cy="0"/>
          </a:xfrm>
          <a:prstGeom prst="line">
            <a:avLst/>
          </a:prstGeom>
          <a:ln w="13970">
            <a:solidFill>
              <a:srgbClr val="CD5C5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5705856" y="4050791"/>
            <a:ext cx="173736" cy="0"/>
          </a:xfrm>
          <a:prstGeom prst="line">
            <a:avLst/>
          </a:prstGeom>
          <a:ln w="13970">
            <a:solidFill>
              <a:srgbClr val="CD5C5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Rounded Rectangle 223"/>
          <p:cNvSpPr/>
          <p:nvPr/>
        </p:nvSpPr>
        <p:spPr>
          <a:xfrm>
            <a:off x="6949440" y="3182112"/>
            <a:ext cx="2788920" cy="548640"/>
          </a:xfrm>
          <a:prstGeom prst="roundRect">
            <a:avLst>
              <a:gd name="adj" fmla="val 8333"/>
            </a:avLst>
          </a:prstGeom>
          <a:noFill/>
          <a:ln w="9525">
            <a:solidFill>
              <a:srgbClr val="C3B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720840" y="321411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333333"/>
                </a:solidFill>
                <a:latin typeface="Arial"/>
              </a:rPr>
              <a:t>Teacher search (on target features)</a:t>
            </a:r>
          </a:p>
        </p:txBody>
      </p:sp>
      <p:sp>
        <p:nvSpPr>
          <p:cNvPr id="226" name="Freeform 225"/>
          <p:cNvSpPr/>
          <p:nvPr/>
        </p:nvSpPr>
        <p:spPr>
          <a:xfrm>
            <a:off x="7150607" y="3339846"/>
            <a:ext cx="356617" cy="25146"/>
          </a:xfrm>
          <a:custGeom>
            <a:avLst/>
            <a:gdLst/>
            <a:ahLst/>
            <a:cxnLst/>
            <a:rect l="l" t="t" r="r" b="b"/>
            <a:pathLst>
              <a:path w="356617" h="25146">
                <a:moveTo>
                  <a:pt x="0" y="25146"/>
                </a:moveTo>
                <a:lnTo>
                  <a:pt x="45720" y="0"/>
                </a:lnTo>
                <a:lnTo>
                  <a:pt x="356617" y="0"/>
                </a:lnTo>
                <a:lnTo>
                  <a:pt x="310897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7461504" y="3339846"/>
            <a:ext cx="45720" cy="317754"/>
          </a:xfrm>
          <a:custGeom>
            <a:avLst/>
            <a:gdLst/>
            <a:ahLst/>
            <a:cxnLst/>
            <a:rect l="l" t="t" r="r" b="b"/>
            <a:pathLst>
              <a:path w="45720" h="317754">
                <a:moveTo>
                  <a:pt x="0" y="25146"/>
                </a:moveTo>
                <a:lnTo>
                  <a:pt x="45720" y="0"/>
                </a:lnTo>
                <a:lnTo>
                  <a:pt x="45720" y="292608"/>
                </a:lnTo>
                <a:lnTo>
                  <a:pt x="0" y="317754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150607" y="3364992"/>
            <a:ext cx="310896" cy="292608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7635240" y="3358134"/>
            <a:ext cx="320040" cy="25146"/>
          </a:xfrm>
          <a:custGeom>
            <a:avLst/>
            <a:gdLst/>
            <a:ahLst/>
            <a:cxnLst/>
            <a:rect l="l" t="t" r="r" b="b"/>
            <a:pathLst>
              <a:path w="320040" h="25146">
                <a:moveTo>
                  <a:pt x="0" y="25146"/>
                </a:moveTo>
                <a:lnTo>
                  <a:pt x="45720" y="0"/>
                </a:lnTo>
                <a:lnTo>
                  <a:pt x="320040" y="0"/>
                </a:lnTo>
                <a:lnTo>
                  <a:pt x="274320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7909560" y="3358134"/>
            <a:ext cx="45720" cy="281178"/>
          </a:xfrm>
          <a:custGeom>
            <a:avLst/>
            <a:gdLst/>
            <a:ahLst/>
            <a:cxnLst/>
            <a:rect l="l" t="t" r="r" b="b"/>
            <a:pathLst>
              <a:path w="45720" h="281178">
                <a:moveTo>
                  <a:pt x="0" y="25146"/>
                </a:moveTo>
                <a:lnTo>
                  <a:pt x="45720" y="0"/>
                </a:lnTo>
                <a:lnTo>
                  <a:pt x="45720" y="256032"/>
                </a:lnTo>
                <a:lnTo>
                  <a:pt x="0" y="281178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635240" y="3383280"/>
            <a:ext cx="274320" cy="256032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8046719" y="3376422"/>
            <a:ext cx="283464" cy="25146"/>
          </a:xfrm>
          <a:custGeom>
            <a:avLst/>
            <a:gdLst/>
            <a:ahLst/>
            <a:cxnLst/>
            <a:rect l="l" t="t" r="r" b="b"/>
            <a:pathLst>
              <a:path w="283464" h="25146">
                <a:moveTo>
                  <a:pt x="0" y="25146"/>
                </a:moveTo>
                <a:lnTo>
                  <a:pt x="45721" y="0"/>
                </a:lnTo>
                <a:lnTo>
                  <a:pt x="283464" y="0"/>
                </a:lnTo>
                <a:lnTo>
                  <a:pt x="237744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8284463" y="3376422"/>
            <a:ext cx="45720" cy="244602"/>
          </a:xfrm>
          <a:custGeom>
            <a:avLst/>
            <a:gdLst/>
            <a:ahLst/>
            <a:cxnLst/>
            <a:rect l="l" t="t" r="r" b="b"/>
            <a:pathLst>
              <a:path w="45720" h="244602">
                <a:moveTo>
                  <a:pt x="0" y="25146"/>
                </a:moveTo>
                <a:lnTo>
                  <a:pt x="45720" y="0"/>
                </a:lnTo>
                <a:lnTo>
                  <a:pt x="45720" y="219456"/>
                </a:lnTo>
                <a:lnTo>
                  <a:pt x="0" y="244602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8046719" y="3401568"/>
            <a:ext cx="237744" cy="219456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7268565" y="3489350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7180783" y="3419856"/>
            <a:ext cx="36576" cy="3657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363663" y="3566160"/>
            <a:ext cx="36576" cy="3657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736738" y="3489350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131759" y="3489350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0" name="Connector 239"/>
          <p:cNvCxnSpPr/>
          <p:nvPr/>
        </p:nvCxnSpPr>
        <p:spPr>
          <a:xfrm>
            <a:off x="7498079" y="3511296"/>
            <a:ext cx="109729" cy="0"/>
          </a:xfrm>
          <a:prstGeom prst="line">
            <a:avLst/>
          </a:prstGeom>
          <a:ln w="1143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7946136" y="3520440"/>
            <a:ext cx="73152" cy="0"/>
          </a:xfrm>
          <a:prstGeom prst="line">
            <a:avLst/>
          </a:prstGeom>
          <a:ln w="1143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ounded Rectangle 241"/>
          <p:cNvSpPr/>
          <p:nvPr/>
        </p:nvSpPr>
        <p:spPr>
          <a:xfrm>
            <a:off x="6949440" y="3794760"/>
            <a:ext cx="2788920" cy="548640"/>
          </a:xfrm>
          <a:prstGeom prst="roundRect">
            <a:avLst>
              <a:gd name="adj" fmla="val 8333"/>
            </a:avLst>
          </a:prstGeom>
          <a:noFill/>
          <a:ln w="9525">
            <a:solidFill>
              <a:srgbClr val="C3B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720840" y="382676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333333"/>
                </a:solidFill>
                <a:latin typeface="Arial"/>
              </a:rPr>
              <a:t>Student search (on target features)</a:t>
            </a:r>
          </a:p>
        </p:txBody>
      </p:sp>
      <p:sp>
        <p:nvSpPr>
          <p:cNvPr id="244" name="Freeform 243"/>
          <p:cNvSpPr/>
          <p:nvPr/>
        </p:nvSpPr>
        <p:spPr>
          <a:xfrm>
            <a:off x="7150607" y="3952494"/>
            <a:ext cx="356617" cy="25146"/>
          </a:xfrm>
          <a:custGeom>
            <a:avLst/>
            <a:gdLst/>
            <a:ahLst/>
            <a:cxnLst/>
            <a:rect l="l" t="t" r="r" b="b"/>
            <a:pathLst>
              <a:path w="356617" h="25146">
                <a:moveTo>
                  <a:pt x="0" y="25146"/>
                </a:moveTo>
                <a:lnTo>
                  <a:pt x="45720" y="0"/>
                </a:lnTo>
                <a:lnTo>
                  <a:pt x="356617" y="0"/>
                </a:lnTo>
                <a:lnTo>
                  <a:pt x="310897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7461504" y="3952494"/>
            <a:ext cx="45720" cy="317754"/>
          </a:xfrm>
          <a:custGeom>
            <a:avLst/>
            <a:gdLst/>
            <a:ahLst/>
            <a:cxnLst/>
            <a:rect l="l" t="t" r="r" b="b"/>
            <a:pathLst>
              <a:path w="45720" h="317754">
                <a:moveTo>
                  <a:pt x="0" y="25146"/>
                </a:moveTo>
                <a:lnTo>
                  <a:pt x="45720" y="0"/>
                </a:lnTo>
                <a:lnTo>
                  <a:pt x="45720" y="292608"/>
                </a:lnTo>
                <a:lnTo>
                  <a:pt x="0" y="317754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150607" y="3977640"/>
            <a:ext cx="310896" cy="292608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7635240" y="3970782"/>
            <a:ext cx="320040" cy="25146"/>
          </a:xfrm>
          <a:custGeom>
            <a:avLst/>
            <a:gdLst/>
            <a:ahLst/>
            <a:cxnLst/>
            <a:rect l="l" t="t" r="r" b="b"/>
            <a:pathLst>
              <a:path w="320040" h="25146">
                <a:moveTo>
                  <a:pt x="0" y="25146"/>
                </a:moveTo>
                <a:lnTo>
                  <a:pt x="45720" y="0"/>
                </a:lnTo>
                <a:lnTo>
                  <a:pt x="320040" y="0"/>
                </a:lnTo>
                <a:lnTo>
                  <a:pt x="274320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7909560" y="3970782"/>
            <a:ext cx="45720" cy="281178"/>
          </a:xfrm>
          <a:custGeom>
            <a:avLst/>
            <a:gdLst/>
            <a:ahLst/>
            <a:cxnLst/>
            <a:rect l="l" t="t" r="r" b="b"/>
            <a:pathLst>
              <a:path w="45720" h="281178">
                <a:moveTo>
                  <a:pt x="0" y="25146"/>
                </a:moveTo>
                <a:lnTo>
                  <a:pt x="45720" y="0"/>
                </a:lnTo>
                <a:lnTo>
                  <a:pt x="45720" y="256032"/>
                </a:lnTo>
                <a:lnTo>
                  <a:pt x="0" y="281178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635240" y="3995928"/>
            <a:ext cx="274320" cy="256032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8046719" y="3989070"/>
            <a:ext cx="283464" cy="25146"/>
          </a:xfrm>
          <a:custGeom>
            <a:avLst/>
            <a:gdLst/>
            <a:ahLst/>
            <a:cxnLst/>
            <a:rect l="l" t="t" r="r" b="b"/>
            <a:pathLst>
              <a:path w="283464" h="25146">
                <a:moveTo>
                  <a:pt x="0" y="25146"/>
                </a:moveTo>
                <a:lnTo>
                  <a:pt x="45721" y="0"/>
                </a:lnTo>
                <a:lnTo>
                  <a:pt x="283464" y="0"/>
                </a:lnTo>
                <a:lnTo>
                  <a:pt x="237744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8284463" y="3989070"/>
            <a:ext cx="45720" cy="244602"/>
          </a:xfrm>
          <a:custGeom>
            <a:avLst/>
            <a:gdLst/>
            <a:ahLst/>
            <a:cxnLst/>
            <a:rect l="l" t="t" r="r" b="b"/>
            <a:pathLst>
              <a:path w="45720" h="244602">
                <a:moveTo>
                  <a:pt x="0" y="25146"/>
                </a:moveTo>
                <a:lnTo>
                  <a:pt x="45720" y="0"/>
                </a:lnTo>
                <a:lnTo>
                  <a:pt x="45720" y="219456"/>
                </a:lnTo>
                <a:lnTo>
                  <a:pt x="0" y="244602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046719" y="4014216"/>
            <a:ext cx="237744" cy="219456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7268565" y="4101998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7180783" y="4032504"/>
            <a:ext cx="36576" cy="3657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7363663" y="4178808"/>
            <a:ext cx="36576" cy="3657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7736738" y="4101998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8131759" y="4101998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8" name="Connector 257"/>
          <p:cNvCxnSpPr/>
          <p:nvPr/>
        </p:nvCxnSpPr>
        <p:spPr>
          <a:xfrm>
            <a:off x="7498079" y="4123944"/>
            <a:ext cx="109729" cy="0"/>
          </a:xfrm>
          <a:prstGeom prst="line">
            <a:avLst/>
          </a:prstGeom>
          <a:ln w="1143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7946136" y="4133088"/>
            <a:ext cx="73152" cy="0"/>
          </a:xfrm>
          <a:prstGeom prst="line">
            <a:avLst/>
          </a:prstGeom>
          <a:ln w="1143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6812280" y="3410712"/>
            <a:ext cx="301752" cy="64008"/>
          </a:xfrm>
          <a:prstGeom prst="line">
            <a:avLst/>
          </a:prstGeom>
          <a:ln w="1397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6812280" y="4050791"/>
            <a:ext cx="301752" cy="64009"/>
          </a:xfrm>
          <a:prstGeom prst="line">
            <a:avLst/>
          </a:prstGeom>
          <a:ln w="1397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Freeform 261"/>
          <p:cNvSpPr/>
          <p:nvPr/>
        </p:nvSpPr>
        <p:spPr>
          <a:xfrm>
            <a:off x="9418320" y="3279267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9464040" y="3279267"/>
            <a:ext cx="22860" cy="341757"/>
          </a:xfrm>
          <a:custGeom>
            <a:avLst/>
            <a:gdLst/>
            <a:ahLst/>
            <a:cxnLst/>
            <a:rect l="l" t="t" r="r" b="b"/>
            <a:pathLst>
              <a:path w="22860" h="341757">
                <a:moveTo>
                  <a:pt x="0" y="12573"/>
                </a:moveTo>
                <a:lnTo>
                  <a:pt x="22860" y="0"/>
                </a:lnTo>
                <a:lnTo>
                  <a:pt x="22860" y="329184"/>
                </a:lnTo>
                <a:lnTo>
                  <a:pt x="0" y="341757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418320" y="3291840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9418320" y="3891914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9464040" y="3891914"/>
            <a:ext cx="22860" cy="341758"/>
          </a:xfrm>
          <a:custGeom>
            <a:avLst/>
            <a:gdLst/>
            <a:ahLst/>
            <a:cxnLst/>
            <a:rect l="l" t="t" r="r" b="b"/>
            <a:pathLst>
              <a:path w="22860" h="341758">
                <a:moveTo>
                  <a:pt x="0" y="12573"/>
                </a:moveTo>
                <a:lnTo>
                  <a:pt x="22860" y="0"/>
                </a:lnTo>
                <a:lnTo>
                  <a:pt x="22860" y="329185"/>
                </a:lnTo>
                <a:lnTo>
                  <a:pt x="0" y="341758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418320" y="3904487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9482328" y="3279267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9528048" y="3279267"/>
            <a:ext cx="22860" cy="341757"/>
          </a:xfrm>
          <a:custGeom>
            <a:avLst/>
            <a:gdLst/>
            <a:ahLst/>
            <a:cxnLst/>
            <a:rect l="l" t="t" r="r" b="b"/>
            <a:pathLst>
              <a:path w="22860" h="341757">
                <a:moveTo>
                  <a:pt x="0" y="12573"/>
                </a:moveTo>
                <a:lnTo>
                  <a:pt x="22860" y="0"/>
                </a:lnTo>
                <a:lnTo>
                  <a:pt x="22860" y="329184"/>
                </a:lnTo>
                <a:lnTo>
                  <a:pt x="0" y="341757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482328" y="3291840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9482328" y="3891914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9528048" y="3891914"/>
            <a:ext cx="22860" cy="341758"/>
          </a:xfrm>
          <a:custGeom>
            <a:avLst/>
            <a:gdLst/>
            <a:ahLst/>
            <a:cxnLst/>
            <a:rect l="l" t="t" r="r" b="b"/>
            <a:pathLst>
              <a:path w="22860" h="341758">
                <a:moveTo>
                  <a:pt x="0" y="12573"/>
                </a:moveTo>
                <a:lnTo>
                  <a:pt x="22860" y="0"/>
                </a:lnTo>
                <a:lnTo>
                  <a:pt x="22860" y="329185"/>
                </a:lnTo>
                <a:lnTo>
                  <a:pt x="0" y="341758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482328" y="3904487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9546336" y="3279267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9592056" y="3279267"/>
            <a:ext cx="22860" cy="341757"/>
          </a:xfrm>
          <a:custGeom>
            <a:avLst/>
            <a:gdLst/>
            <a:ahLst/>
            <a:cxnLst/>
            <a:rect l="l" t="t" r="r" b="b"/>
            <a:pathLst>
              <a:path w="22860" h="341757">
                <a:moveTo>
                  <a:pt x="0" y="12573"/>
                </a:moveTo>
                <a:lnTo>
                  <a:pt x="22860" y="0"/>
                </a:lnTo>
                <a:lnTo>
                  <a:pt x="22860" y="329184"/>
                </a:lnTo>
                <a:lnTo>
                  <a:pt x="0" y="341757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546336" y="3291840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9546336" y="3891914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9592056" y="3891914"/>
            <a:ext cx="22860" cy="341758"/>
          </a:xfrm>
          <a:custGeom>
            <a:avLst/>
            <a:gdLst/>
            <a:ahLst/>
            <a:cxnLst/>
            <a:rect l="l" t="t" r="r" b="b"/>
            <a:pathLst>
              <a:path w="22860" h="341758">
                <a:moveTo>
                  <a:pt x="0" y="12573"/>
                </a:moveTo>
                <a:lnTo>
                  <a:pt x="22860" y="0"/>
                </a:lnTo>
                <a:lnTo>
                  <a:pt x="22860" y="329185"/>
                </a:lnTo>
                <a:lnTo>
                  <a:pt x="0" y="341758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546336" y="3904487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9610344" y="3279267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9656064" y="3279267"/>
            <a:ext cx="22860" cy="341757"/>
          </a:xfrm>
          <a:custGeom>
            <a:avLst/>
            <a:gdLst/>
            <a:ahLst/>
            <a:cxnLst/>
            <a:rect l="l" t="t" r="r" b="b"/>
            <a:pathLst>
              <a:path w="22860" h="341757">
                <a:moveTo>
                  <a:pt x="0" y="12573"/>
                </a:moveTo>
                <a:lnTo>
                  <a:pt x="22860" y="0"/>
                </a:lnTo>
                <a:lnTo>
                  <a:pt x="22860" y="329184"/>
                </a:lnTo>
                <a:lnTo>
                  <a:pt x="0" y="341757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610344" y="3291840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9610344" y="3891914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9656064" y="3891914"/>
            <a:ext cx="22860" cy="341758"/>
          </a:xfrm>
          <a:custGeom>
            <a:avLst/>
            <a:gdLst/>
            <a:ahLst/>
            <a:cxnLst/>
            <a:rect l="l" t="t" r="r" b="b"/>
            <a:pathLst>
              <a:path w="22860" h="341758">
                <a:moveTo>
                  <a:pt x="0" y="12573"/>
                </a:moveTo>
                <a:lnTo>
                  <a:pt x="22860" y="0"/>
                </a:lnTo>
                <a:lnTo>
                  <a:pt x="22860" y="329185"/>
                </a:lnTo>
                <a:lnTo>
                  <a:pt x="0" y="341758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610344" y="3904487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9710928" y="3182112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 i="1">
                <a:solidFill>
                  <a:srgbClr val="6B4FA0"/>
                </a:solidFill>
                <a:latin typeface="Arial"/>
              </a:rPr>
              <a:t>F</a:t>
            </a:r>
            <a:r>
              <a:rPr sz="900" b="1" i="1" baseline="-25000">
                <a:solidFill>
                  <a:srgbClr val="6B4FA0"/>
                </a:solidFill>
                <a:latin typeface="Arial"/>
              </a:rPr>
              <a:t>T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9710928" y="3794760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 i="1">
                <a:solidFill>
                  <a:srgbClr val="6B4FA0"/>
                </a:solidFill>
                <a:latin typeface="Arial"/>
              </a:rPr>
              <a:t>F</a:t>
            </a:r>
            <a:r>
              <a:rPr sz="900" b="1" i="1" baseline="-25000">
                <a:solidFill>
                  <a:srgbClr val="6B4FA0"/>
                </a:solidFill>
                <a:latin typeface="Arial"/>
              </a:rPr>
              <a:t>S</a:t>
            </a:r>
          </a:p>
        </p:txBody>
      </p:sp>
      <p:cxnSp>
        <p:nvCxnSpPr>
          <p:cNvPr id="288" name="Connector 287"/>
          <p:cNvCxnSpPr/>
          <p:nvPr/>
        </p:nvCxnSpPr>
        <p:spPr>
          <a:xfrm flipV="1">
            <a:off x="9253728" y="3493008"/>
            <a:ext cx="146304" cy="18288"/>
          </a:xfrm>
          <a:prstGeom prst="line">
            <a:avLst/>
          </a:prstGeom>
          <a:ln w="1270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9253728" y="4105656"/>
            <a:ext cx="146304" cy="18288"/>
          </a:xfrm>
          <a:prstGeom prst="line">
            <a:avLst/>
          </a:prstGeom>
          <a:ln w="1270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9546336" y="3648456"/>
            <a:ext cx="0" cy="228600"/>
          </a:xfrm>
          <a:prstGeom prst="line">
            <a:avLst/>
          </a:prstGeom>
          <a:ln w="16510">
            <a:solidFill>
              <a:srgbClr val="7B5EA7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/>
          <p:cNvSpPr txBox="1"/>
          <p:nvPr/>
        </p:nvSpPr>
        <p:spPr>
          <a:xfrm>
            <a:off x="9784080" y="3483864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7B5EA7"/>
                </a:solidFill>
                <a:latin typeface="Arial"/>
              </a:rPr>
              <a:t>Align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91440" y="4489704"/>
            <a:ext cx="12006072" cy="384048"/>
          </a:xfrm>
          <a:prstGeom prst="rect">
            <a:avLst/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82880" y="4562856"/>
            <a:ext cx="68580" cy="237744"/>
          </a:xfrm>
          <a:prstGeom prst="rect">
            <a:avLst/>
          </a:prstGeom>
          <a:solidFill>
            <a:srgbClr val="2F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338328" y="4407408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Arial"/>
              </a:rPr>
              <a:t>Student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517904" y="4407408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7A9CC6"/>
                </a:solidFill>
                <a:latin typeface="Arial"/>
              </a:rPr>
              <a:t>(target-only inference)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164592" y="4983480"/>
            <a:ext cx="2139696" cy="9144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12700">
            <a:solidFill>
              <a:srgbClr val="C2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265176" y="525780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Target orbit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265176" y="54589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(ASC)</a:t>
            </a:r>
          </a:p>
        </p:txBody>
      </p:sp>
      <p:pic>
        <p:nvPicPr>
          <p:cNvPr id="299" name="Picture 298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575" y="503834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0" name="Picture 299" descr="t_vh_p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07492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1" name="Picture 300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511149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2" name="Picture 301" descr="t_vh_p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514807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3" name="Picture 302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1" y="518464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4" name="Picture 303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5376" y="503834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5" name="Picture 304" descr="t_vh_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507492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6" name="Picture 305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2224" y="511149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7" name="Picture 306" descr="t_vh_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5648" y="514807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8" name="Picture 307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9072" y="518464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sp>
        <p:nvSpPr>
          <p:cNvPr id="309" name="TextBox 308"/>
          <p:cNvSpPr txBox="1"/>
          <p:nvPr/>
        </p:nvSpPr>
        <p:spPr>
          <a:xfrm>
            <a:off x="-192024" y="555040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pre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493776" y="555040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post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-338328" y="56784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-64008" y="56784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347471" y="56784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621792" y="56784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58952" y="534924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  <a:latin typeface="Arial"/>
              </a:rPr>
              <a:t>⋮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457200" y="59070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08080"/>
                </a:solidFill>
                <a:latin typeface="Arial"/>
              </a:rPr>
              <a:t>5-channel SAR input</a:t>
            </a:r>
          </a:p>
        </p:txBody>
      </p:sp>
      <p:sp>
        <p:nvSpPr>
          <p:cNvPr id="317" name="Freeform 316"/>
          <p:cNvSpPr/>
          <p:nvPr/>
        </p:nvSpPr>
        <p:spPr>
          <a:xfrm>
            <a:off x="2395728" y="5120640"/>
            <a:ext cx="850392" cy="676656"/>
          </a:xfrm>
          <a:custGeom>
            <a:avLst/>
            <a:gdLst/>
            <a:ahLst/>
            <a:cxnLst/>
            <a:rect l="l" t="t" r="r" b="b"/>
            <a:pathLst>
              <a:path w="850392" h="676656">
                <a:moveTo>
                  <a:pt x="0" y="0"/>
                </a:moveTo>
                <a:lnTo>
                  <a:pt x="850392" y="128015"/>
                </a:lnTo>
                <a:lnTo>
                  <a:pt x="850392" y="548639"/>
                </a:lnTo>
                <a:lnTo>
                  <a:pt x="0" y="676656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1335024" y="5321807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ConvNeXt-Tiny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1335024" y="546811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+ FPN</a:t>
            </a:r>
          </a:p>
        </p:txBody>
      </p:sp>
      <p:cxnSp>
        <p:nvCxnSpPr>
          <p:cNvPr id="320" name="Connector 319"/>
          <p:cNvCxnSpPr/>
          <p:nvPr/>
        </p:nvCxnSpPr>
        <p:spPr>
          <a:xfrm>
            <a:off x="2322576" y="5431536"/>
            <a:ext cx="54864" cy="0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Freeform 320"/>
          <p:cNvSpPr/>
          <p:nvPr/>
        </p:nvSpPr>
        <p:spPr>
          <a:xfrm>
            <a:off x="3520440" y="5200192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3639312" y="5200192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3520440" y="5230368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3671315" y="5200192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3790187" y="5200192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3671315" y="5230368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3822191" y="5200192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3941063" y="5200192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3822191" y="5230368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4233672" y="5328208"/>
            <a:ext cx="173735" cy="30175"/>
          </a:xfrm>
          <a:custGeom>
            <a:avLst/>
            <a:gdLst/>
            <a:ahLst/>
            <a:cxnLst/>
            <a:rect l="l" t="t" r="r" b="b"/>
            <a:pathLst>
              <a:path w="173735" h="30175">
                <a:moveTo>
                  <a:pt x="0" y="30175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5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4352544" y="5328208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5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4233672" y="5358383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4384548" y="5328208"/>
            <a:ext cx="173735" cy="30175"/>
          </a:xfrm>
          <a:custGeom>
            <a:avLst/>
            <a:gdLst/>
            <a:ahLst/>
            <a:cxnLst/>
            <a:rect l="l" t="t" r="r" b="b"/>
            <a:pathLst>
              <a:path w="173735" h="30175">
                <a:moveTo>
                  <a:pt x="0" y="30175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5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4503420" y="5328208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5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4384548" y="5358383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4535424" y="5328208"/>
            <a:ext cx="173735" cy="30175"/>
          </a:xfrm>
          <a:custGeom>
            <a:avLst/>
            <a:gdLst/>
            <a:ahLst/>
            <a:cxnLst/>
            <a:rect l="l" t="t" r="r" b="b"/>
            <a:pathLst>
              <a:path w="173735" h="30175">
                <a:moveTo>
                  <a:pt x="0" y="30175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5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4654296" y="5328208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5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4535424" y="5358383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4837176" y="545622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4956048" y="5456224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4837176" y="5486400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4988052" y="545622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5106924" y="5456224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4988052" y="5486400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5138928" y="545622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5257800" y="5456224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5138928" y="5486400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2285999" y="5852159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2999232" y="5852159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3602736" y="5852159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351" name="Connector 350"/>
          <p:cNvCxnSpPr/>
          <p:nvPr/>
        </p:nvCxnSpPr>
        <p:spPr>
          <a:xfrm>
            <a:off x="4005072" y="5513832"/>
            <a:ext cx="192024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4718304" y="5577840"/>
            <a:ext cx="100584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3291840" y="5458968"/>
            <a:ext cx="192024" cy="54864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Rounded Rectangle 353"/>
          <p:cNvSpPr/>
          <p:nvPr/>
        </p:nvSpPr>
        <p:spPr>
          <a:xfrm>
            <a:off x="5394960" y="5029200"/>
            <a:ext cx="914400" cy="411480"/>
          </a:xfrm>
          <a:prstGeom prst="roundRect">
            <a:avLst>
              <a:gd name="adj" fmla="val 17777"/>
            </a:avLst>
          </a:prstGeom>
          <a:solidFill>
            <a:srgbClr val="E7F0FB"/>
          </a:solidFill>
          <a:ln w="1524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4389120" y="513892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Policy</a:t>
            </a:r>
          </a:p>
        </p:txBody>
      </p:sp>
      <p:sp>
        <p:nvSpPr>
          <p:cNvPr id="356" name="Freeform 355"/>
          <p:cNvSpPr/>
          <p:nvPr/>
        </p:nvSpPr>
        <p:spPr>
          <a:xfrm>
            <a:off x="5486400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5550408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5486400" y="5614416"/>
            <a:ext cx="64008" cy="411480"/>
          </a:xfrm>
          <a:prstGeom prst="rect">
            <a:avLst/>
          </a:prstGeom>
          <a:solidFill>
            <a:srgbClr val="E4B87F"/>
          </a:solidFill>
          <a:ln w="10160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5573268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5637276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5573268" y="5614416"/>
            <a:ext cx="64008" cy="411480"/>
          </a:xfrm>
          <a:prstGeom prst="rect">
            <a:avLst/>
          </a:prstGeom>
          <a:solidFill>
            <a:srgbClr val="C5B3E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5660136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9FC0E8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5724144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9FC0E8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5660136" y="5614416"/>
            <a:ext cx="64008" cy="411480"/>
          </a:xfrm>
          <a:prstGeom prst="rect">
            <a:avLst/>
          </a:prstGeom>
          <a:solidFill>
            <a:srgbClr val="9FC0E8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5747004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5811012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5747004" y="5614416"/>
            <a:ext cx="64008" cy="411480"/>
          </a:xfrm>
          <a:prstGeom prst="rect">
            <a:avLst/>
          </a:prstGeom>
          <a:solidFill>
            <a:srgbClr val="C5B3E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5833872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5897880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5833872" y="5614416"/>
            <a:ext cx="64008" cy="411480"/>
          </a:xfrm>
          <a:prstGeom prst="rect">
            <a:avLst/>
          </a:prstGeom>
          <a:solidFill>
            <a:srgbClr val="E4B87F"/>
          </a:solidFill>
          <a:ln w="10160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1" name="Connector 370"/>
          <p:cNvCxnSpPr/>
          <p:nvPr/>
        </p:nvCxnSpPr>
        <p:spPr>
          <a:xfrm flipH="1">
            <a:off x="5212080" y="5641848"/>
            <a:ext cx="109728" cy="0"/>
          </a:xfrm>
          <a:prstGeom prst="line">
            <a:avLst/>
          </a:prstGeom>
          <a:ln w="1651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5212080" y="5230368"/>
            <a:ext cx="0" cy="411480"/>
          </a:xfrm>
          <a:prstGeom prst="line">
            <a:avLst/>
          </a:prstGeom>
          <a:ln w="1651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5212080" y="5230368"/>
            <a:ext cx="164592" cy="0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H="1">
            <a:off x="5724144" y="5458968"/>
            <a:ext cx="36576" cy="118872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Rounded Rectangle 374"/>
          <p:cNvSpPr/>
          <p:nvPr/>
        </p:nvSpPr>
        <p:spPr>
          <a:xfrm>
            <a:off x="6355080" y="4983480"/>
            <a:ext cx="2377440" cy="1143000"/>
          </a:xfrm>
          <a:prstGeom prst="roundRect">
            <a:avLst>
              <a:gd name="adj" fmla="val 4800"/>
            </a:avLst>
          </a:prstGeom>
          <a:noFill/>
          <a:ln w="12700">
            <a:solidFill>
              <a:srgbClr val="7E6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6080760" y="506120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Adaptive Search (Student)</a:t>
            </a:r>
          </a:p>
        </p:txBody>
      </p:sp>
      <p:sp>
        <p:nvSpPr>
          <p:cNvPr id="377" name="Freeform 376"/>
          <p:cNvSpPr/>
          <p:nvPr/>
        </p:nvSpPr>
        <p:spPr>
          <a:xfrm>
            <a:off x="6537960" y="5373014"/>
            <a:ext cx="457200" cy="40234"/>
          </a:xfrm>
          <a:custGeom>
            <a:avLst/>
            <a:gdLst/>
            <a:ahLst/>
            <a:cxnLst/>
            <a:rect l="l" t="t" r="r" b="b"/>
            <a:pathLst>
              <a:path w="457200" h="40234">
                <a:moveTo>
                  <a:pt x="0" y="40234"/>
                </a:moveTo>
                <a:lnTo>
                  <a:pt x="73152" y="0"/>
                </a:lnTo>
                <a:lnTo>
                  <a:pt x="457200" y="0"/>
                </a:lnTo>
                <a:lnTo>
                  <a:pt x="384048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6922008" y="5373014"/>
            <a:ext cx="73152" cy="543154"/>
          </a:xfrm>
          <a:custGeom>
            <a:avLst/>
            <a:gdLst/>
            <a:ahLst/>
            <a:cxnLst/>
            <a:rect l="l" t="t" r="r" b="b"/>
            <a:pathLst>
              <a:path w="73152" h="543154">
                <a:moveTo>
                  <a:pt x="0" y="40234"/>
                </a:moveTo>
                <a:lnTo>
                  <a:pt x="73152" y="0"/>
                </a:lnTo>
                <a:lnTo>
                  <a:pt x="73152" y="502920"/>
                </a:lnTo>
                <a:lnTo>
                  <a:pt x="0" y="54315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6537960" y="5413248"/>
            <a:ext cx="384048" cy="502920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7132320" y="5446166"/>
            <a:ext cx="402336" cy="40234"/>
          </a:xfrm>
          <a:custGeom>
            <a:avLst/>
            <a:gdLst/>
            <a:ahLst/>
            <a:cxnLst/>
            <a:rect l="l" t="t" r="r" b="b"/>
            <a:pathLst>
              <a:path w="402336" h="40234">
                <a:moveTo>
                  <a:pt x="0" y="40234"/>
                </a:moveTo>
                <a:lnTo>
                  <a:pt x="73152" y="0"/>
                </a:lnTo>
                <a:lnTo>
                  <a:pt x="402336" y="0"/>
                </a:lnTo>
                <a:lnTo>
                  <a:pt x="329184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7461504" y="5446166"/>
            <a:ext cx="73152" cy="460858"/>
          </a:xfrm>
          <a:custGeom>
            <a:avLst/>
            <a:gdLst/>
            <a:ahLst/>
            <a:cxnLst/>
            <a:rect l="l" t="t" r="r" b="b"/>
            <a:pathLst>
              <a:path w="73152" h="460858">
                <a:moveTo>
                  <a:pt x="0" y="40234"/>
                </a:moveTo>
                <a:lnTo>
                  <a:pt x="73152" y="0"/>
                </a:lnTo>
                <a:lnTo>
                  <a:pt x="73152" y="420624"/>
                </a:lnTo>
                <a:lnTo>
                  <a:pt x="0" y="46085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7132320" y="5486400"/>
            <a:ext cx="329184" cy="420624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7635240" y="5510174"/>
            <a:ext cx="347472" cy="40234"/>
          </a:xfrm>
          <a:custGeom>
            <a:avLst/>
            <a:gdLst/>
            <a:ahLst/>
            <a:cxnLst/>
            <a:rect l="l" t="t" r="r" b="b"/>
            <a:pathLst>
              <a:path w="347472" h="40234">
                <a:moveTo>
                  <a:pt x="0" y="40234"/>
                </a:moveTo>
                <a:lnTo>
                  <a:pt x="73152" y="0"/>
                </a:lnTo>
                <a:lnTo>
                  <a:pt x="347472" y="0"/>
                </a:lnTo>
                <a:lnTo>
                  <a:pt x="274320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7909560" y="5510174"/>
            <a:ext cx="73152" cy="387706"/>
          </a:xfrm>
          <a:custGeom>
            <a:avLst/>
            <a:gdLst/>
            <a:ahLst/>
            <a:cxnLst/>
            <a:rect l="l" t="t" r="r" b="b"/>
            <a:pathLst>
              <a:path w="73152" h="387706">
                <a:moveTo>
                  <a:pt x="0" y="40234"/>
                </a:moveTo>
                <a:lnTo>
                  <a:pt x="73152" y="0"/>
                </a:lnTo>
                <a:lnTo>
                  <a:pt x="73152" y="347472"/>
                </a:lnTo>
                <a:lnTo>
                  <a:pt x="0" y="387706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7635240" y="5550408"/>
            <a:ext cx="274320" cy="34747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5303520" y="527151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cxnSp>
        <p:nvCxnSpPr>
          <p:cNvPr id="387" name="Connector 386"/>
          <p:cNvCxnSpPr/>
          <p:nvPr/>
        </p:nvCxnSpPr>
        <p:spPr>
          <a:xfrm flipH="1" flipV="1">
            <a:off x="6580388" y="5544921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Oval 387"/>
          <p:cNvSpPr/>
          <p:nvPr/>
        </p:nvSpPr>
        <p:spPr>
          <a:xfrm>
            <a:off x="6556613" y="552114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9" name="Connector 388"/>
          <p:cNvCxnSpPr/>
          <p:nvPr/>
        </p:nvCxnSpPr>
        <p:spPr>
          <a:xfrm flipV="1">
            <a:off x="6699260" y="5572353"/>
            <a:ext cx="137160" cy="82296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Oval 389"/>
          <p:cNvSpPr/>
          <p:nvPr/>
        </p:nvSpPr>
        <p:spPr>
          <a:xfrm>
            <a:off x="6812645" y="5548579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1" name="Connector 390"/>
          <p:cNvCxnSpPr/>
          <p:nvPr/>
        </p:nvCxnSpPr>
        <p:spPr>
          <a:xfrm>
            <a:off x="6699260" y="5654649"/>
            <a:ext cx="118872" cy="118872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Oval 391"/>
          <p:cNvSpPr/>
          <p:nvPr/>
        </p:nvSpPr>
        <p:spPr>
          <a:xfrm>
            <a:off x="6794357" y="574974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3" name="Connector 392"/>
          <p:cNvCxnSpPr/>
          <p:nvPr/>
        </p:nvCxnSpPr>
        <p:spPr>
          <a:xfrm flipH="1">
            <a:off x="6598676" y="5654649"/>
            <a:ext cx="100584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Oval 393"/>
          <p:cNvSpPr/>
          <p:nvPr/>
        </p:nvSpPr>
        <p:spPr>
          <a:xfrm>
            <a:off x="6574901" y="5740603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6669999" y="5625388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6" name="Connector 395"/>
          <p:cNvCxnSpPr/>
          <p:nvPr/>
        </p:nvCxnSpPr>
        <p:spPr>
          <a:xfrm>
            <a:off x="6710781" y="5966459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7" name="Oval 396"/>
          <p:cNvSpPr/>
          <p:nvPr/>
        </p:nvSpPr>
        <p:spPr>
          <a:xfrm>
            <a:off x="6685178" y="6091732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5870448" y="53446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cxnSp>
        <p:nvCxnSpPr>
          <p:cNvPr id="399" name="Connector 398"/>
          <p:cNvCxnSpPr/>
          <p:nvPr/>
        </p:nvCxnSpPr>
        <p:spPr>
          <a:xfrm flipH="1" flipV="1">
            <a:off x="7151705" y="5578571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Oval 399"/>
          <p:cNvSpPr/>
          <p:nvPr/>
        </p:nvSpPr>
        <p:spPr>
          <a:xfrm>
            <a:off x="7127930" y="555479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1" name="Connector 400"/>
          <p:cNvCxnSpPr/>
          <p:nvPr/>
        </p:nvCxnSpPr>
        <p:spPr>
          <a:xfrm flipV="1">
            <a:off x="7270577" y="5606003"/>
            <a:ext cx="137160" cy="82296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Oval 401"/>
          <p:cNvSpPr/>
          <p:nvPr/>
        </p:nvSpPr>
        <p:spPr>
          <a:xfrm>
            <a:off x="7383962" y="5582229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7241316" y="5659038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4" name="Connector 403"/>
          <p:cNvCxnSpPr/>
          <p:nvPr/>
        </p:nvCxnSpPr>
        <p:spPr>
          <a:xfrm>
            <a:off x="7280452" y="5957316"/>
            <a:ext cx="0" cy="123443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" name="Oval 404"/>
          <p:cNvSpPr/>
          <p:nvPr/>
        </p:nvSpPr>
        <p:spPr>
          <a:xfrm>
            <a:off x="7254849" y="6082588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6345936" y="540867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407" name="Connector 406"/>
          <p:cNvCxnSpPr/>
          <p:nvPr/>
        </p:nvCxnSpPr>
        <p:spPr>
          <a:xfrm flipH="1" flipV="1">
            <a:off x="7631582" y="5607466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Oval 407"/>
          <p:cNvSpPr/>
          <p:nvPr/>
        </p:nvSpPr>
        <p:spPr>
          <a:xfrm>
            <a:off x="7607807" y="5583692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7721193" y="5687933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0" name="Connector 409"/>
          <p:cNvCxnSpPr/>
          <p:nvPr/>
        </p:nvCxnSpPr>
        <p:spPr>
          <a:xfrm>
            <a:off x="7758683" y="5948172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1" name="Oval 410"/>
          <p:cNvSpPr/>
          <p:nvPr/>
        </p:nvSpPr>
        <p:spPr>
          <a:xfrm>
            <a:off x="7733080" y="6073444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2" name="Connector 411"/>
          <p:cNvCxnSpPr/>
          <p:nvPr/>
        </p:nvCxnSpPr>
        <p:spPr>
          <a:xfrm>
            <a:off x="6995160" y="5669280"/>
            <a:ext cx="109728" cy="18288"/>
          </a:xfrm>
          <a:prstGeom prst="line">
            <a:avLst/>
          </a:prstGeom>
          <a:ln w="1397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7534656" y="5715000"/>
            <a:ext cx="73152" cy="9144"/>
          </a:xfrm>
          <a:prstGeom prst="line">
            <a:avLst/>
          </a:prstGeom>
          <a:ln w="1397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Freeform 413"/>
          <p:cNvSpPr/>
          <p:nvPr/>
        </p:nvSpPr>
        <p:spPr>
          <a:xfrm>
            <a:off x="8183879" y="542559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8234171" y="542559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8183879" y="544068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8252459" y="542559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8302751" y="542559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8252459" y="544068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8321040" y="5425592"/>
            <a:ext cx="77723" cy="15088"/>
          </a:xfrm>
          <a:custGeom>
            <a:avLst/>
            <a:gdLst/>
            <a:ahLst/>
            <a:cxnLst/>
            <a:rect l="l" t="t" r="r" b="b"/>
            <a:pathLst>
              <a:path w="77723" h="15088">
                <a:moveTo>
                  <a:pt x="0" y="15088"/>
                </a:moveTo>
                <a:lnTo>
                  <a:pt x="27431" y="0"/>
                </a:lnTo>
                <a:lnTo>
                  <a:pt x="77723" y="0"/>
                </a:lnTo>
                <a:lnTo>
                  <a:pt x="50291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8371331" y="542559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8321040" y="544068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8389619" y="542559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8439911" y="542559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8389619" y="544068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8604504" y="5394960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 i="1">
                <a:solidFill>
                  <a:srgbClr val="6B4FA0"/>
                </a:solidFill>
                <a:latin typeface="Arial"/>
              </a:rPr>
              <a:t>F</a:t>
            </a:r>
            <a:r>
              <a:rPr sz="1000" b="1" i="1" baseline="-25000">
                <a:solidFill>
                  <a:srgbClr val="6B4FA0"/>
                </a:solidFill>
                <a:latin typeface="Arial"/>
              </a:rPr>
              <a:t>S</a:t>
            </a:r>
          </a:p>
        </p:txBody>
      </p:sp>
      <p:cxnSp>
        <p:nvCxnSpPr>
          <p:cNvPr id="427" name="Connector 426"/>
          <p:cNvCxnSpPr/>
          <p:nvPr/>
        </p:nvCxnSpPr>
        <p:spPr>
          <a:xfrm flipV="1">
            <a:off x="5961888" y="5742432"/>
            <a:ext cx="539496" cy="54864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5321808" y="6035040"/>
            <a:ext cx="1353312" cy="0"/>
          </a:xfrm>
          <a:prstGeom prst="line">
            <a:avLst/>
          </a:prstGeom>
          <a:ln w="1905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6675120" y="5952744"/>
            <a:ext cx="0" cy="82296"/>
          </a:xfrm>
          <a:prstGeom prst="line">
            <a:avLst/>
          </a:prstGeom>
          <a:ln w="1905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Freeform 429"/>
          <p:cNvSpPr/>
          <p:nvPr/>
        </p:nvSpPr>
        <p:spPr>
          <a:xfrm>
            <a:off x="8887968" y="5413248"/>
            <a:ext cx="640080" cy="822960"/>
          </a:xfrm>
          <a:custGeom>
            <a:avLst/>
            <a:gdLst/>
            <a:ahLst/>
            <a:cxnLst/>
            <a:rect l="l" t="t" r="r" b="b"/>
            <a:pathLst>
              <a:path w="640080" h="822960">
                <a:moveTo>
                  <a:pt x="0" y="0"/>
                </a:moveTo>
                <a:lnTo>
                  <a:pt x="640080" y="182880"/>
                </a:lnTo>
                <a:lnTo>
                  <a:pt x="640080" y="640080"/>
                </a:lnTo>
                <a:lnTo>
                  <a:pt x="0" y="822960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7699248" y="571500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Decoder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522208" y="5715000"/>
            <a:ext cx="347472" cy="45720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3" name="Picture 432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0928" y="5440680"/>
            <a:ext cx="566928" cy="566928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434" name="TextBox 433"/>
          <p:cNvSpPr txBox="1"/>
          <p:nvPr/>
        </p:nvSpPr>
        <p:spPr>
          <a:xfrm>
            <a:off x="8531352" y="519379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Student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8531352" y="534009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Prediction</a:t>
            </a:r>
          </a:p>
        </p:txBody>
      </p:sp>
      <p:cxnSp>
        <p:nvCxnSpPr>
          <p:cNvPr id="436" name="Connector 435"/>
          <p:cNvCxnSpPr/>
          <p:nvPr/>
        </p:nvCxnSpPr>
        <p:spPr>
          <a:xfrm flipV="1">
            <a:off x="9528048" y="5760720"/>
            <a:ext cx="164592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Rounded Rectangle 436"/>
          <p:cNvSpPr/>
          <p:nvPr/>
        </p:nvSpPr>
        <p:spPr>
          <a:xfrm>
            <a:off x="10442448" y="4983480"/>
            <a:ext cx="1600200" cy="1188720"/>
          </a:xfrm>
          <a:prstGeom prst="roundRect">
            <a:avLst>
              <a:gd name="adj" fmla="val 4615"/>
            </a:avLst>
          </a:prstGeom>
          <a:noFill/>
          <a:ln w="12700">
            <a:solidFill>
              <a:srgbClr val="D98A9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TextBox 437"/>
          <p:cNvSpPr txBox="1"/>
          <p:nvPr/>
        </p:nvSpPr>
        <p:spPr>
          <a:xfrm>
            <a:off x="9774936" y="504748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Training Supervision (Student)</a:t>
            </a:r>
          </a:p>
        </p:txBody>
      </p:sp>
      <p:pic>
        <p:nvPicPr>
          <p:cNvPr id="439" name="Picture 438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00" y="5321808"/>
            <a:ext cx="457200" cy="45720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440" name="TextBox 439"/>
          <p:cNvSpPr txBox="1"/>
          <p:nvPr/>
        </p:nvSpPr>
        <p:spPr>
          <a:xfrm>
            <a:off x="9738360" y="521208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GT</a:t>
            </a:r>
          </a:p>
        </p:txBody>
      </p:sp>
      <p:sp>
        <p:nvSpPr>
          <p:cNvPr id="441" name="Rounded Rectangle 440"/>
          <p:cNvSpPr/>
          <p:nvPr/>
        </p:nvSpPr>
        <p:spPr>
          <a:xfrm>
            <a:off x="10716768" y="5870448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F9E3E7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9774936" y="593445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C44E62"/>
                </a:solidFill>
                <a:latin typeface="Arial"/>
              </a:rPr>
              <a:t>Seg. Loss</a:t>
            </a:r>
          </a:p>
        </p:txBody>
      </p:sp>
      <p:cxnSp>
        <p:nvCxnSpPr>
          <p:cNvPr id="443" name="Connector 442"/>
          <p:cNvCxnSpPr/>
          <p:nvPr/>
        </p:nvCxnSpPr>
        <p:spPr>
          <a:xfrm flipV="1">
            <a:off x="10296144" y="5596128"/>
            <a:ext cx="640080" cy="128016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11201400" y="5797296"/>
            <a:ext cx="27432" cy="54864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5" name="Rounded Rectangle 444"/>
          <p:cNvSpPr/>
          <p:nvPr/>
        </p:nvSpPr>
        <p:spPr>
          <a:xfrm>
            <a:off x="9646920" y="6309360"/>
            <a:ext cx="2395728" cy="329184"/>
          </a:xfrm>
          <a:prstGeom prst="roundRect">
            <a:avLst>
              <a:gd name="adj" fmla="val 22222"/>
            </a:avLst>
          </a:prstGeom>
          <a:solidFill>
            <a:srgbClr val="F9E3E7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9381744" y="6199632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333333"/>
                </a:solidFill>
                <a:latin typeface="Arial"/>
              </a:rPr>
              <a:t>L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S</a:t>
            </a:r>
            <a:r>
              <a:rPr sz="1000" b="0" i="1">
                <a:solidFill>
                  <a:srgbClr val="333333"/>
                </a:solidFill>
                <a:latin typeface="Arial"/>
              </a:rPr>
              <a:t> = L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seg</a:t>
            </a:r>
            <a:r>
              <a:rPr sz="1000" b="0" i="1">
                <a:solidFill>
                  <a:srgbClr val="333333"/>
                </a:solidFill>
                <a:latin typeface="Arial"/>
              </a:rPr>
              <a:t> + λ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KD</a:t>
            </a:r>
            <a:r>
              <a:rPr sz="1000" b="0" i="1">
                <a:solidFill>
                  <a:srgbClr val="333333"/>
                </a:solidFill>
                <a:latin typeface="Arial"/>
              </a:rPr>
              <a:t>(0.5 L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policy</a:t>
            </a:r>
            <a:r>
              <a:rPr sz="1000" b="0" i="1">
                <a:solidFill>
                  <a:srgbClr val="333333"/>
                </a:solidFill>
                <a:latin typeface="Arial"/>
              </a:rPr>
              <a:t> + 0.5 L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evidence</a:t>
            </a:r>
            <a:r>
              <a:rPr sz="1000" b="0" i="0">
                <a:solidFill>
                  <a:srgbClr val="333333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