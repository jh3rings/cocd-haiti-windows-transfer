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502920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76072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(dual-orbit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00584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F1F5EA"/>
          </a:solidFill>
          <a:ln w="12700">
            <a:solidFill>
              <a:srgbClr val="CBD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Counter orbit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14813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(DESC)</a:t>
            </a:r>
          </a:p>
        </p:txBody>
      </p:sp>
      <p:pic>
        <p:nvPicPr>
          <p:cNvPr id="9" name="Picture 8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0" name="Picture 9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1" name="Picture 10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2" name="Picture 11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3" name="Picture 12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4" name="Picture 13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5" name="Picture 14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6" name="Picture 15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7" name="Picture 16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8" name="Picture 17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-192024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3832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6400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1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13716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938528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2212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24140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" name="Picture 2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" name="Picture 2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1" name="Picture 3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2" name="Picture 3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3" name="Picture 3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4" name="Picture 3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5" name="Picture 3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6" name="Picture 3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7" name="Picture 3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8" name="Picture 3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-192024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33832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6400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1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23042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8620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5728" y="1115568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6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14630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sp>
        <p:nvSpPr>
          <p:cNvPr id="50" name="Freeform 49"/>
          <p:cNvSpPr/>
          <p:nvPr/>
        </p:nvSpPr>
        <p:spPr>
          <a:xfrm>
            <a:off x="2395728" y="2121408"/>
            <a:ext cx="850392" cy="676655"/>
          </a:xfrm>
          <a:custGeom>
            <a:avLst/>
            <a:gdLst/>
            <a:ahLst/>
            <a:cxnLst/>
            <a:rect l="l" t="t" r="r" b="b"/>
            <a:pathLst>
              <a:path w="850392" h="676655">
                <a:moveTo>
                  <a:pt x="0" y="0"/>
                </a:moveTo>
                <a:lnTo>
                  <a:pt x="850392" y="128016"/>
                </a:lnTo>
                <a:lnTo>
                  <a:pt x="850392" y="548640"/>
                </a:lnTo>
                <a:lnTo>
                  <a:pt x="0" y="676655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35024" y="23225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" y="246887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22576" y="1435608"/>
            <a:ext cx="54864" cy="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22576" y="2395728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520440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639312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20440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671315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790187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71315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822191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941063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22191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233672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352544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33672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4548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503420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4548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535424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654296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35424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37176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956048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837176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988052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106924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88052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138928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257800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5999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99232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2736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05072" y="1563624"/>
            <a:ext cx="19202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18304" y="1627632"/>
            <a:ext cx="10058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520440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639312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671315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790187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71315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822191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941063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22191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233672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52544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33672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384548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503420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4548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535424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654296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35424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837176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956048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837176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988052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5106924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88052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138928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57800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38928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285999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9232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2736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005072" y="2478024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18304" y="2542032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291840" y="1463040"/>
            <a:ext cx="192024" cy="10972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91840" y="2432304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440680" y="100584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DF5E4"/>
          </a:solidFill>
          <a:ln w="1524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98848" y="11338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Counter-guided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5486400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550408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486400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573268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5637276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73268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660136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724144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660136" y="1755648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5747004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811012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747004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5833872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897880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33872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5321808" y="1691640"/>
            <a:ext cx="256032" cy="0"/>
          </a:xfrm>
          <a:prstGeom prst="line">
            <a:avLst/>
          </a:prstGeom>
          <a:ln w="16510">
            <a:solidFill>
              <a:srgbClr val="6E9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577840" y="1554480"/>
            <a:ext cx="0" cy="13716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5724144" y="1554480"/>
            <a:ext cx="36576" cy="164592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355080" y="1188720"/>
            <a:ext cx="2377440" cy="1554480"/>
          </a:xfrm>
          <a:prstGeom prst="roundRect">
            <a:avLst>
              <a:gd name="adj" fmla="val 3529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80760" y="126644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(Teacher)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6537960" y="153253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922008" y="153253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37960" y="157276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132320" y="160568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461504" y="160568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132320" y="164592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635240" y="166969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09560" y="166969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35240" y="170992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03520" y="14310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154" name="Connector 153"/>
          <p:cNvCxnSpPr/>
          <p:nvPr/>
        </p:nvCxnSpPr>
        <p:spPr>
          <a:xfrm flipH="1" flipV="1">
            <a:off x="6580388" y="170444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556613" y="16806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699260" y="173187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6812645" y="170809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699260" y="181416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6794357" y="19092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H="1">
            <a:off x="6598676" y="181416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574901" y="190012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69999" y="178490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6710781" y="2125980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685178" y="225125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0448" y="15041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166" name="Connector 165"/>
          <p:cNvCxnSpPr/>
          <p:nvPr/>
        </p:nvCxnSpPr>
        <p:spPr>
          <a:xfrm flipH="1" flipV="1">
            <a:off x="7151705" y="173809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127930" y="171431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 flipV="1">
            <a:off x="7270577" y="176552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7383962" y="174174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41316" y="181855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7280452" y="2116836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7254849" y="224210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45936" y="1568195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74" name="Connector 173"/>
          <p:cNvCxnSpPr/>
          <p:nvPr/>
        </p:nvCxnSpPr>
        <p:spPr>
          <a:xfrm flipH="1" flipV="1">
            <a:off x="7631582" y="176698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607807" y="174321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721193" y="184745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758683" y="210769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7733080" y="223296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6995160" y="182880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534656" y="1874519"/>
            <a:ext cx="73152" cy="9145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818387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23417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8387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25245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30275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25245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8321040" y="158511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837133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321040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38961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43991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8961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04504" y="15544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5961888" y="1883664"/>
            <a:ext cx="539496" cy="54864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321808" y="265176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75120" y="2112264"/>
            <a:ext cx="0" cy="5394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8887968" y="1554480"/>
            <a:ext cx="640080" cy="960120"/>
          </a:xfrm>
          <a:custGeom>
            <a:avLst/>
            <a:gdLst/>
            <a:ahLst/>
            <a:cxnLst/>
            <a:rect l="l" t="t" r="r" b="b"/>
            <a:pathLst>
              <a:path w="640080" h="960120">
                <a:moveTo>
                  <a:pt x="0" y="0"/>
                </a:moveTo>
                <a:lnTo>
                  <a:pt x="640080" y="182880"/>
                </a:lnTo>
                <a:lnTo>
                  <a:pt x="640080" y="777240"/>
                </a:lnTo>
                <a:lnTo>
                  <a:pt x="0" y="96012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699248" y="1920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8522208" y="1874519"/>
            <a:ext cx="347472" cy="64009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Picture 199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15544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1" name="TextBox 200"/>
          <p:cNvSpPr txBox="1"/>
          <p:nvPr/>
        </p:nvSpPr>
        <p:spPr>
          <a:xfrm>
            <a:off x="8531352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Teacher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31352" y="14264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9528048" y="1901952"/>
            <a:ext cx="164592" cy="128016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10442448" y="1005840"/>
            <a:ext cx="1600200" cy="1828800"/>
          </a:xfrm>
          <a:prstGeom prst="roundRect">
            <a:avLst>
              <a:gd name="adj" fmla="val 3428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74936" y="1069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Training Supervision (Teacher)</a:t>
            </a:r>
          </a:p>
        </p:txBody>
      </p:sp>
      <p:pic>
        <p:nvPicPr>
          <p:cNvPr id="206" name="Picture 205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32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7" name="TextBox 206"/>
          <p:cNvSpPr txBox="1"/>
          <p:nvPr/>
        </p:nvSpPr>
        <p:spPr>
          <a:xfrm>
            <a:off x="940917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pic>
        <p:nvPicPr>
          <p:cNvPr id="208" name="Picture 207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684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9" name="TextBox 208"/>
          <p:cNvSpPr txBox="1"/>
          <p:nvPr/>
        </p:nvSpPr>
        <p:spPr>
          <a:xfrm>
            <a:off x="1014069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TGD mask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625328" y="23957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74936" y="24871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 + TGD Aux.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10296144" y="1719072"/>
            <a:ext cx="292608" cy="118871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872216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11484864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5120640" y="2898648"/>
            <a:ext cx="4892040" cy="1481328"/>
          </a:xfrm>
          <a:prstGeom prst="roundRect">
            <a:avLst>
              <a:gd name="adj" fmla="val 3703"/>
            </a:avLst>
          </a:prstGeom>
          <a:solidFill>
            <a:srgbClr val="FBFAFE"/>
          </a:solidFill>
          <a:ln w="13970">
            <a:solidFill>
              <a:srgbClr val="9B7B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099048" y="29672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Arial"/>
              </a:rPr>
              <a:t>Knowledge Distillation (training only)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705856" y="2194560"/>
            <a:ext cx="0" cy="2816352"/>
          </a:xfrm>
          <a:prstGeom prst="line">
            <a:avLst/>
          </a:prstGeom>
          <a:ln w="1524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/>
          <p:cNvSpPr/>
          <p:nvPr/>
        </p:nvSpPr>
        <p:spPr>
          <a:xfrm>
            <a:off x="5897880" y="324612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892040" y="33329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Policy KD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97880" y="388620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892040" y="39730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Evidence KD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705856" y="3410712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705856" y="4050791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/>
          <p:cNvSpPr/>
          <p:nvPr/>
        </p:nvSpPr>
        <p:spPr>
          <a:xfrm>
            <a:off x="6949440" y="3182112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720840" y="32141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Teacher search (on target features)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7150607" y="3339846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461504" y="3339846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150607" y="3364992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35240" y="3358134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909560" y="3358134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635240" y="3383280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8046719" y="3376422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8284463" y="3376422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046719" y="3401568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268565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180783" y="3419856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363663" y="3566160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736738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131759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7498079" y="3511296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946136" y="3520440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6949440" y="3794760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20840" y="38267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Student search (on target features)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150607" y="3952494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461504" y="3952494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150607" y="3977640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5240" y="3970782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909560" y="3970782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635240" y="3995928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046719" y="3989070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284463" y="3989070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046719" y="4014216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268565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180783" y="4032504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363663" y="4178808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36738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131759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7498079" y="4123944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946136" y="4133088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812280" y="3410712"/>
            <a:ext cx="301752" cy="64008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812280" y="4050791"/>
            <a:ext cx="301752" cy="64009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Freeform 261"/>
          <p:cNvSpPr/>
          <p:nvPr/>
        </p:nvSpPr>
        <p:spPr>
          <a:xfrm>
            <a:off x="9418320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9464040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418320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9418320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464040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418320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482328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9528048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482328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9482328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9528048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482328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9546336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9592056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546336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9546336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9592056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46336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9610344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9656064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10344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9610344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9656064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610344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710928" y="3182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10928" y="37947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9253728" y="3493008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3728" y="4105656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9546336" y="3648456"/>
            <a:ext cx="0" cy="228600"/>
          </a:xfrm>
          <a:prstGeom prst="line">
            <a:avLst/>
          </a:prstGeom>
          <a:ln w="16510">
            <a:solidFill>
              <a:srgbClr val="7B5EA7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9784080" y="34838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Arial"/>
              </a:rPr>
              <a:t>Align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91440" y="4489704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2880" y="4562856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338328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Student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517904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(target-only inference)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64592" y="498348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65176" y="52578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65176" y="54589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9" name="Picture 29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0" name="Picture 29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1" name="Picture 30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2" name="Picture 30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3" name="Picture 30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4" name="Picture 30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5" name="Picture 30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6" name="Picture 30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7" name="Picture 30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8" name="Picture 30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09" name="TextBox 308"/>
          <p:cNvSpPr txBox="1"/>
          <p:nvPr/>
        </p:nvSpPr>
        <p:spPr>
          <a:xfrm>
            <a:off x="-192024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93776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-33832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-6400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47471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21792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58952" y="5349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57200" y="59070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2395728" y="5120640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5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335024" y="5321807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335024" y="5468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2322576" y="5431536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3520440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639312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520440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671315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790187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71315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822191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941063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822191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233672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352544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233672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4384548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503420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384548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535424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4654296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535424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837176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956048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837176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988052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106924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988052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138928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5257800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138928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285999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2999232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602736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4005072" y="5513832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718304" y="5577840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291840" y="5458968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5394960" y="5029200"/>
            <a:ext cx="914400" cy="411480"/>
          </a:xfrm>
          <a:prstGeom prst="roundRect">
            <a:avLst>
              <a:gd name="adj" fmla="val 17777"/>
            </a:avLst>
          </a:prstGeom>
          <a:solidFill>
            <a:srgbClr val="E7F0FB"/>
          </a:solidFill>
          <a:ln w="152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4389120" y="51389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5486400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550408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486400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5573268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5637276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73268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5660136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5724144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660136" y="5614416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5747004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811012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747004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5833872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5897880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833872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H="1">
            <a:off x="5212080" y="5641848"/>
            <a:ext cx="109728" cy="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212080" y="5230368"/>
            <a:ext cx="0" cy="41148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212080" y="5230368"/>
            <a:ext cx="164592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5724144" y="5458968"/>
            <a:ext cx="36576" cy="118872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Rounded Rectangle 374"/>
          <p:cNvSpPr/>
          <p:nvPr/>
        </p:nvSpPr>
        <p:spPr>
          <a:xfrm>
            <a:off x="6355080" y="4983480"/>
            <a:ext cx="2377440" cy="1143000"/>
          </a:xfrm>
          <a:prstGeom prst="roundRect">
            <a:avLst>
              <a:gd name="adj" fmla="val 4800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080760" y="506120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(Student)</a:t>
            </a:r>
          </a:p>
        </p:txBody>
      </p:sp>
      <p:sp>
        <p:nvSpPr>
          <p:cNvPr id="377" name="Freeform 376"/>
          <p:cNvSpPr/>
          <p:nvPr/>
        </p:nvSpPr>
        <p:spPr>
          <a:xfrm>
            <a:off x="6537960" y="537301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6922008" y="537301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537960" y="541324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7132320" y="544616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7461504" y="544616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132320" y="548640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7635240" y="551017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7909560" y="551017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635240" y="555040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5303520" y="52715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387" name="Connector 386"/>
          <p:cNvCxnSpPr/>
          <p:nvPr/>
        </p:nvCxnSpPr>
        <p:spPr>
          <a:xfrm flipH="1" flipV="1">
            <a:off x="6580388" y="554492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387"/>
          <p:cNvSpPr/>
          <p:nvPr/>
        </p:nvSpPr>
        <p:spPr>
          <a:xfrm>
            <a:off x="6556613" y="55211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6699260" y="557235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389"/>
          <p:cNvSpPr/>
          <p:nvPr/>
        </p:nvSpPr>
        <p:spPr>
          <a:xfrm>
            <a:off x="6812645" y="554857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6699260" y="565464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Oval 391"/>
          <p:cNvSpPr/>
          <p:nvPr/>
        </p:nvSpPr>
        <p:spPr>
          <a:xfrm>
            <a:off x="6794357" y="57497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H="1">
            <a:off x="6598676" y="565464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6574901" y="574060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669999" y="562538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6710781" y="5966459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Oval 396"/>
          <p:cNvSpPr/>
          <p:nvPr/>
        </p:nvSpPr>
        <p:spPr>
          <a:xfrm>
            <a:off x="6685178" y="609173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870448" y="53446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399" name="Connector 398"/>
          <p:cNvCxnSpPr/>
          <p:nvPr/>
        </p:nvCxnSpPr>
        <p:spPr>
          <a:xfrm flipH="1" flipV="1">
            <a:off x="7151705" y="557857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7127930" y="555479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7270577" y="560600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Oval 401"/>
          <p:cNvSpPr/>
          <p:nvPr/>
        </p:nvSpPr>
        <p:spPr>
          <a:xfrm>
            <a:off x="7383962" y="558222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7241316" y="565903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7280452" y="5957316"/>
            <a:ext cx="0" cy="123443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7254849" y="608258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345936" y="54086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407" name="Connector 406"/>
          <p:cNvCxnSpPr/>
          <p:nvPr/>
        </p:nvCxnSpPr>
        <p:spPr>
          <a:xfrm flipH="1" flipV="1">
            <a:off x="7631582" y="560746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7607807" y="558369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7721193" y="568793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7758683" y="594817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>
            <a:off x="7733080" y="607344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6995160" y="566928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534656" y="5715000"/>
            <a:ext cx="73152" cy="9144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818387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23417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18387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825245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830275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825245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8321040" y="542559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837133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8321040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38961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3991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38961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604504" y="53949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427" name="Connector 426"/>
          <p:cNvCxnSpPr/>
          <p:nvPr/>
        </p:nvCxnSpPr>
        <p:spPr>
          <a:xfrm flipV="1">
            <a:off x="5961888" y="5742432"/>
            <a:ext cx="539496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5321808" y="603504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675120" y="5952744"/>
            <a:ext cx="0" cy="822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reeform 429"/>
          <p:cNvSpPr/>
          <p:nvPr/>
        </p:nvSpPr>
        <p:spPr>
          <a:xfrm>
            <a:off x="8887968" y="5413248"/>
            <a:ext cx="640080" cy="822960"/>
          </a:xfrm>
          <a:custGeom>
            <a:avLst/>
            <a:gdLst/>
            <a:ahLst/>
            <a:cxnLst/>
            <a:rect l="l" t="t" r="r" b="b"/>
            <a:pathLst>
              <a:path w="640080" h="822960">
                <a:moveTo>
                  <a:pt x="0" y="0"/>
                </a:moveTo>
                <a:lnTo>
                  <a:pt x="640080" y="182880"/>
                </a:lnTo>
                <a:lnTo>
                  <a:pt x="640080" y="640080"/>
                </a:lnTo>
                <a:lnTo>
                  <a:pt x="0" y="82296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699248" y="57150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522208" y="5715000"/>
            <a:ext cx="347472" cy="4572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3" name="Picture 432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54406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34" name="TextBox 433"/>
          <p:cNvSpPr txBox="1"/>
          <p:nvPr/>
        </p:nvSpPr>
        <p:spPr>
          <a:xfrm>
            <a:off x="8531352" y="519379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Student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531352" y="534009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9528048" y="5760720"/>
            <a:ext cx="164592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ounded Rectangle 436"/>
          <p:cNvSpPr/>
          <p:nvPr/>
        </p:nvSpPr>
        <p:spPr>
          <a:xfrm>
            <a:off x="10442448" y="4983480"/>
            <a:ext cx="1600200" cy="1188720"/>
          </a:xfrm>
          <a:prstGeom prst="roundRect">
            <a:avLst>
              <a:gd name="adj" fmla="val 4615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774936" y="50474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Training Supervision (Student)</a:t>
            </a:r>
          </a:p>
        </p:txBody>
      </p:sp>
      <p:pic>
        <p:nvPicPr>
          <p:cNvPr id="439" name="Picture 438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5321808"/>
            <a:ext cx="457200" cy="45720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40" name="TextBox 439"/>
          <p:cNvSpPr txBox="1"/>
          <p:nvPr/>
        </p:nvSpPr>
        <p:spPr>
          <a:xfrm>
            <a:off x="9738360" y="52120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sp>
        <p:nvSpPr>
          <p:cNvPr id="441" name="Rounded Rectangle 440"/>
          <p:cNvSpPr/>
          <p:nvPr/>
        </p:nvSpPr>
        <p:spPr>
          <a:xfrm>
            <a:off x="10716768" y="5870448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9774936" y="5934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</a:t>
            </a:r>
          </a:p>
        </p:txBody>
      </p:sp>
      <p:cxnSp>
        <p:nvCxnSpPr>
          <p:cNvPr id="443" name="Connector 442"/>
          <p:cNvCxnSpPr/>
          <p:nvPr/>
        </p:nvCxnSpPr>
        <p:spPr>
          <a:xfrm flipV="1">
            <a:off x="10296144" y="5596128"/>
            <a:ext cx="640080" cy="128016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1201400" y="5797296"/>
            <a:ext cx="27432" cy="5486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444"/>
          <p:cNvSpPr/>
          <p:nvPr/>
        </p:nvSpPr>
        <p:spPr>
          <a:xfrm>
            <a:off x="9646920" y="6309360"/>
            <a:ext cx="2395728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9381744" y="619963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Arial"/>
              </a:rPr>
              <a:t>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=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seg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λ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KD</a:t>
            </a:r>
            <a:r>
              <a:rPr sz="1000" b="0" i="1">
                <a:solidFill>
                  <a:srgbClr val="333333"/>
                </a:solidFill>
                <a:latin typeface="Arial"/>
              </a:rPr>
              <a:t>(0.5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policy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evidence</a:t>
            </a:r>
            <a:r>
              <a:rPr sz="1000" b="0" i="0">
                <a:solidFill>
                  <a:srgbClr val="333333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